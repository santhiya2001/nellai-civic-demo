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I am Santhiya M, register number 952825405014, a final-year M.E. Computer Science and Engineering student at SCAD College of Engineering &amp; Technology. My project is Nellai Green &amp; Civic. This localhost prototype manages complaints and sends authority alerts. Gmail accepted test NGC-063524AD on 7 October 2026; inbox arrival is checked separately. The ZIP supports a Python 3.12 setup on Windows, Linux and macOS. AI classification is a future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problem as the motivation for this design. Do not claim measured failure rates or comparisons with government systems; no such study was conducted.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accountable workflow and extensibility. Environmental modules demonstrate how the same core can support additional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records are actually persisted and roles are enforced through the API. Seeded records are synthetic and labelled. AI and sensors are not simulated as real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implementation choices, not claims of novel algorithms. Official technology references are listed at the end of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diagram element is editable. Explain that one API owns transactions, while a separate worker checks deadlines. The modules share core services and the database through documented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matrix is enforced at API level, not just by hiding browser buttons. Resolution verification is restricted to the original reporting citizen, even when the caller is an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Foreign keys preserve references. A dedicated complaint_emails table holds pending, sent or failed authority alerts with attempts and timestamps. Schema changes use Alembic migrations.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resolve endpoint records RESOLVED and VERIFICATION events in the same transaction. Rejection is a separate administrator decision with a recorded reason. This demo does not insert a fake AI-analysis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working-day calculation is covered by a test. The worker does not hard-code a government officer. Existing complaints keep a policy snapshot; reopening begins a new escalation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layers include clusters and a heatmap. The duplicate score is text similarity, not a trained image model. No report is automatically deleted as a duplicate.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screenshot if the live environment is unavailable. The figures are synthetic demo record counts, not research findings or real district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record created by the Playwright browser test. Explain that the backend separately tests reopening, authorization failures and escalation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complaint creates an outbox entry even without a matched authority. Gmail accepted the labelled test email for sandymuthukutti@gmail.com and the restarted worker also delivered the other queued demo alert. SENT means SMTP acceptance, not proof of inbox arrival. Delivery needs internet and a running worker. Retries stop after five failures. The ZIP excludes the App Password, so a new PC requires private mail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as administrator and open Authority email outbox. The screenshot records the real original-PC SENT state after Gmail accepted the message. Ask the recipient to check Inbox/Spam; do not treat SMTP acceptance as inbox confirmation. On another PC create a new report, because the original database is not included in the ZIP. The preview uses the actual outgoing email formatter.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Survival rates use inspected trees only; newly planted trees are not counted as known survivors. No automatic species recommendation or land ownership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enabling the example flood module. It adds a page and APIs for manual gauge readings. It is a reviewed installed source package, not executable code uploaded by anonymous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implemented controls, not an independent security certification. Account deletion has documented demo limits for retained operational history. A public rollout needs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docs/verification.md if asked. Twenty-five backend/module tests passed on PostGIS. Three browser scenarios cover the full workflow, administration/modules/responsiveness and email outbox; the outbox scenario was repeated after real Gmail acceptance. Do not claim AI accuracy, scalability numbers or government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RUN_ON_ANOTHER_PC.md. Python 3.12 is required and packages download during first setup. No Node.js or Docker is required for the packaged demo. Fresh demo logins are generated in runtime/DEMO_CREDENTIALS.md. The ZIP excludes original passwords, database and uploaded files. SQLite supports the portable workflow; the original PC uses PostGIS. Gmail and external map tiles require internet. Windows and macOS launchers are supplied but native execution was not available on the Linux build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essential: explain honestly what is implemented. The user chose a simple local demo rather than a Play Store project. No fake external system or AI output has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technology documentation references. A separate academic literature survey can be added by the student if required by the college; no papers or research results are fabricated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Be ready to show the live workflow, module manifest, API docs, tests, or the working-day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DD09A"/>
                </a:solidFill>
                <a:latin typeface="Aptos"/>
              </a:defRPr>
            </a:pPr>
            <a:r>
              <a:t>ME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Nellai Green &amp; Civic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50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7BE8E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B4C99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589520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4EDD5"/>
                </a:solidFill>
                <a:latin typeface="Aptos"/>
              </a:defRPr>
            </a:pPr>
            <a:r>
              <a:t>Civic complaint management</a:t>
            </a:r>
          </a:p>
          <a:p>
            <a:pPr>
              <a:spcAft>
                <a:spcPts val="700"/>
              </a:spcAft>
              <a:defRPr sz="3000" b="1">
                <a:solidFill>
                  <a:srgbClr val="E4EDD5"/>
                </a:solidFill>
                <a:latin typeface="Aptos"/>
              </a:defRPr>
            </a:pPr>
            <a:r>
              <a:t>with authority email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B7CB92"/>
                </a:solidFill>
                <a:latin typeface="Aptos"/>
              </a:defRPr>
            </a:pPr>
            <a:r>
              <a:t>Report. Notify. Respond. Verify.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08760"/>
            <a:ext cx="2560320" cy="2834640"/>
          </a:xfrm>
          <a:prstGeom prst="roundRect">
            <a:avLst>
              <a:gd name="adj" fmla="val 12000"/>
            </a:avLst>
          </a:prstGeom>
          <a:solidFill>
            <a:srgbClr val="2D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8048" y="1783080"/>
            <a:ext cx="1463040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9300" b="1">
                <a:solidFill>
                  <a:srgbClr val="B7D28E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3364992"/>
            <a:ext cx="2130552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1ECD2"/>
                </a:solidFill>
                <a:latin typeface="Aptos"/>
              </a:defRPr>
            </a:pPr>
            <a:r>
              <a:t>OUR NELLAI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E1ECD2"/>
                </a:solidFill>
                <a:latin typeface="Aptos"/>
              </a:defRPr>
            </a:pPr>
            <a:r>
              <a:t>OUR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62179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B7CB92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62179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Santhiya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22392"/>
            <a:ext cx="621792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CE8CF"/>
                </a:solidFill>
                <a:latin typeface="Aptos"/>
              </a:defRPr>
            </a:pPr>
            <a:r>
              <a:t>Register No.: 952825405014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15584"/>
            <a:ext cx="621792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CE8CF"/>
                </a:solidFill>
                <a:latin typeface="Aptos"/>
              </a:defRPr>
            </a:pPr>
            <a:r>
              <a:t>M.E. CSE — Final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535424"/>
            <a:ext cx="41148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ad-colleg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4677156"/>
            <a:ext cx="3785615" cy="9918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5952744"/>
            <a:ext cx="42062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DCE8CF"/>
                </a:solidFill>
                <a:latin typeface="Aptos"/>
              </a:defRPr>
            </a:pPr>
            <a:r>
              <a:t>SCAD College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01 /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report should start a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Design problem: civic reports and environmental participation need one traceable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87752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63239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Scattered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22191"/>
            <a:ext cx="310896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 concern needs a location, evidence, category and a clear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423160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587752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063239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Unclear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822191"/>
            <a:ext cx="310896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Routing should follow configured teams and jurisdictions.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2423160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87752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63239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Missing 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822191"/>
            <a:ext cx="310896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 status change should be supported by evidence and citizen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14C36"/>
                </a:solidFill>
                <a:latin typeface="Aptos"/>
              </a:defRPr>
            </a:pPr>
            <a:r>
              <a:t>Project response: a shared, auditable platform that connects reporting with action and community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02 / AIM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One core platform. Several community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48840"/>
            <a:ext cx="1063447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83F30"/>
                </a:solidFill>
                <a:latin typeface="Aptos"/>
              </a:defRPr>
            </a:pPr>
            <a:r>
              <a:t>Capture civic and environmental issues with photographs and location.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44368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52928"/>
            <a:ext cx="1063447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83F30"/>
                </a:solidFill>
                <a:latin typeface="Aptos"/>
              </a:defRPr>
            </a:pPr>
            <a:r>
              <a:t>Assign responsibility using configurable rules and working-day deadlines.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48456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6"/>
            <a:ext cx="1063447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83F30"/>
                </a:solidFill>
                <a:latin typeface="Aptos"/>
              </a:defRPr>
            </a:pPr>
            <a:r>
              <a:t>Track evidence, escalation and citizen verification.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52544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261104"/>
            <a:ext cx="1063447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83F30"/>
                </a:solidFill>
                <a:latin typeface="Aptos"/>
              </a:defRPr>
            </a:pPr>
            <a:r>
              <a:t>Support volunteers, tree records and water observations.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56631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965192"/>
            <a:ext cx="1063447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83F30"/>
                </a:solidFill>
                <a:latin typeface="Aptos"/>
              </a:defRPr>
            </a:pPr>
            <a:r>
              <a:t>Automatically queue authority email alerts for every new complaint.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03 / IMPLEMENTED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focused, working localhost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A complete complaint workflow with an administrator email outbox; no sensor hardware is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Citizen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1071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Register, report, track, verify and manage the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42316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65176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Authority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41071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Assigned issues, progress updates and resolution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242316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65176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Administrator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41071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Teams, calendars, rules, modules and complaint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4340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57200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GIS &amp;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33095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Clusters, heatmap, trees and water-resource layers.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434340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57200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Community participation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533095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Volunteer profiles, activities and capacity-aware joining.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4343400"/>
            <a:ext cx="3529584" cy="169164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457200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Authority email outbox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5330952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Automatic alerts, message previews and delivery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04 / TECHNOLOGY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Open technologies, clear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286000"/>
          <a:ext cx="10972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246120"/>
                <a:gridCol w="5669280"/>
              </a:tblGrid>
              <a:tr h="556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Responsibility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Web interface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React + TypeScript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Role-based views, forms and reusable components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API and services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Python + FastAPI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Validation, authentication and complaint workflow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Persistence / GIS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PostgreSQL + PostGIS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Records, distance lookup and geographic boundaries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Maps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Leaflet + OpenStreetMap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Interactive layers, clustering and heatmaps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Development / tests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VS Code, pytest, Playwright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Local run tasks, API and browser verification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52160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F8068"/>
                </a:solidFill>
                <a:latin typeface="Aptos"/>
              </a:defRPr>
            </a:pPr>
            <a:r>
              <a:t>SQLite is available as an easier local adapter; PostGIS is used for the prepared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05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modular monolith with API boundaries.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83280" cy="50292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3832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74519"/>
            <a:ext cx="3383280" cy="50292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65960"/>
            <a:ext cx="33832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2983" y="1874519"/>
            <a:ext cx="3383280" cy="50292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1965960"/>
            <a:ext cx="33832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24912"/>
            <a:ext cx="10479024" cy="548640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62072"/>
            <a:ext cx="101498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REACT WEB APPLICATION  →  REST API /api/v1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85032"/>
            <a:ext cx="672084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40480"/>
            <a:ext cx="6309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CORE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15384"/>
            <a:ext cx="6309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Auth · RBAC · Workflow · GIS · Notifications ·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3685032"/>
            <a:ext cx="3465576" cy="877824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3831336"/>
            <a:ext cx="30175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MODULE 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215384"/>
            <a:ext cx="303580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Green · Volunteer · Water · Flood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48072"/>
            <a:ext cx="6720840" cy="777240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367528"/>
            <a:ext cx="636422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POSTGRESQL + POSTGIS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0688" y="5148072"/>
            <a:ext cx="3465576" cy="777240"/>
          </a:xfrm>
          <a:prstGeom prst="roundRect">
            <a:avLst>
              <a:gd name="adj" fmla="val 12000"/>
            </a:avLst>
          </a:prstGeom>
          <a:solidFill>
            <a:srgbClr val="F3E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5330952"/>
            <a:ext cx="3035808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14C36"/>
                </a:solidFill>
                <a:latin typeface="Aptos"/>
              </a:defRPr>
            </a:pPr>
            <a:r>
              <a:t>Email + escalation worker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2386584"/>
            <a:ext cx="0" cy="27432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own Arrow 25"/>
          <p:cNvSpPr/>
          <p:nvPr/>
        </p:nvSpPr>
        <p:spPr>
          <a:xfrm>
            <a:off x="2404872" y="255117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16752" y="2386584"/>
            <a:ext cx="0" cy="27432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>
            <a:off x="5952744" y="255117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64624" y="2386584"/>
            <a:ext cx="0" cy="27432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own Arrow 29"/>
          <p:cNvSpPr/>
          <p:nvPr/>
        </p:nvSpPr>
        <p:spPr>
          <a:xfrm>
            <a:off x="9500616" y="255117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069080" y="3291840"/>
            <a:ext cx="0" cy="329184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4005072" y="351129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528048" y="3291840"/>
            <a:ext cx="0" cy="329184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9464040" y="351129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069080" y="4590288"/>
            <a:ext cx="0" cy="493776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wn Arrow 35"/>
          <p:cNvSpPr/>
          <p:nvPr/>
        </p:nvSpPr>
        <p:spPr>
          <a:xfrm>
            <a:off x="4005072" y="497433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9528048" y="4608576"/>
            <a:ext cx="0" cy="512064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wn Arrow 37"/>
          <p:cNvSpPr/>
          <p:nvPr/>
        </p:nvSpPr>
        <p:spPr>
          <a:xfrm rot="10800000">
            <a:off x="9464040" y="4498848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06 / ROLES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Access follows responsibility.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28600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  <a:gridCol w="2377440"/>
                <a:gridCol w="2377440"/>
              </a:tblGrid>
              <a:tr h="4833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Citizen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Authority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Administrator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Submit a report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View private complaint details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Own reports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Assigned team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Managed reports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Assign team / correct category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Update and resolve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Assigned team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Verify resolution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Reporting citizen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Only own reports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Only own reports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Configure modules / calendars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Staff role grants require a super administrator. Public maps omit contact details and private photos.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07 /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traceable record behind every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65176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14015"/>
            <a:ext cx="2468879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94560"/>
            <a:ext cx="2834640" cy="758952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414015"/>
            <a:ext cx="265176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194560"/>
            <a:ext cx="256032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414015"/>
            <a:ext cx="2377439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AUTHORITIES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265176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77056"/>
            <a:ext cx="2468879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UPLOADS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657600"/>
            <a:ext cx="283464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877056"/>
            <a:ext cx="265176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EVENTS + ESCALATIONS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657600"/>
            <a:ext cx="2560320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3877056"/>
            <a:ext cx="2377439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214C36"/>
                </a:solidFill>
                <a:latin typeface="Aptos"/>
              </a:defRPr>
            </a:pPr>
            <a:r>
              <a:t>RULES + CALENDARS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19856" y="2569464"/>
            <a:ext cx="1271016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4581144" y="24963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7671816" y="2569464"/>
            <a:ext cx="1152144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 rot="10800000">
            <a:off x="7562088" y="24963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57400" y="2962656"/>
            <a:ext cx="0" cy="612648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own Arrow 23"/>
          <p:cNvSpPr/>
          <p:nvPr/>
        </p:nvSpPr>
        <p:spPr>
          <a:xfrm>
            <a:off x="1993392" y="346557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72200" y="2962656"/>
            <a:ext cx="0" cy="612648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own Arrow 25"/>
          <p:cNvSpPr/>
          <p:nvPr/>
        </p:nvSpPr>
        <p:spPr>
          <a:xfrm>
            <a:off x="6108192" y="3465576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10149840" y="2971800"/>
            <a:ext cx="0" cy="603504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 rot="10800000">
            <a:off x="10085832" y="2862072"/>
            <a:ext cx="128016" cy="146304"/>
          </a:xfrm>
          <a:prstGeom prst="downArrow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698480" cy="859536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Email outbox + audit trail  |  Optional records: trees · volunteers · water · gauge readings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08 / COMPLAINT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complaint ends with citizen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Reported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21408" y="3255264"/>
            <a:ext cx="118872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2130552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76856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584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Assigned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58184" y="3255264"/>
            <a:ext cx="118872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3767328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13632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6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Acknowledged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3255264"/>
            <a:ext cx="118872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5404104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50408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In progress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31736" y="3255264"/>
            <a:ext cx="118872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040880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87184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Resolved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68512" y="3255264"/>
            <a:ext cx="118872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8677656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23959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3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D9855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7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14C36"/>
                </a:solidFill>
                <a:latin typeface="Aptos"/>
              </a:defRPr>
            </a:pPr>
            <a:r>
              <a:t>Verification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305288" y="3255264"/>
            <a:ext cx="118871" cy="0"/>
          </a:xfrm>
          <a:prstGeom prst="line">
            <a:avLst/>
          </a:prstGeom>
          <a:ln w="22860">
            <a:solidFill>
              <a:srgbClr val="6F8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10314432" y="3182112"/>
            <a:ext cx="128016" cy="146304"/>
          </a:xfrm>
          <a:prstGeom prst="chevron">
            <a:avLst/>
          </a:prstGeom>
          <a:solidFill>
            <a:srgbClr val="6F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60736" y="2606040"/>
            <a:ext cx="1463040" cy="1335024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2779776"/>
            <a:ext cx="1188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CEE0A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0463" y="3383280"/>
            <a:ext cx="124358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4599432"/>
            <a:ext cx="8275320" cy="96012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4782312"/>
            <a:ext cx="7726679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14C36"/>
                </a:solidFill>
                <a:latin typeface="Aptos"/>
              </a:defRPr>
            </a:pPr>
            <a:r>
              <a:t>Not resolved?  Citizen reopens → In progress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79592"/>
            <a:ext cx="10789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Resolution requires a description, photograph, timestamp, location and responsible user.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09 / AUTHORITY ASSIGNMENT &amp;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Deadlines follow a configured working calendar.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Category + GPS + jurisdiction + responsibility rule → responsible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65379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59436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214C36"/>
                </a:solidFill>
                <a:latin typeface="Aptos"/>
              </a:defRPr>
            </a:pPr>
            <a:r>
              <a:t>Example: 3 working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5852160" cy="1737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Reported: Friday, 18 September 2026</a:t>
            </a:r>
          </a:p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Weekend: Saturday and Sunday</a:t>
            </a:r>
          </a:p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Configured example holiday: Monday, 21 September</a:t>
            </a:r>
          </a:p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Deadline: Thursday, 24 September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02936"/>
            <a:ext cx="585216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The holiday is a test-calendar input, not an assertion about official holidays.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0648" y="2377440"/>
            <a:ext cx="4078224" cy="338328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606040"/>
            <a:ext cx="365760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Escalation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64992"/>
            <a:ext cx="3657600" cy="2331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1. Reminder at the due check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2. Configured higher team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3. Additional configured levels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10 / GIS &amp; DUPLICATE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Location informs the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95728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60320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58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Nearby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94760"/>
            <a:ext cx="3108960" cy="86867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PostGIS distance queries use metres and spatial indexes.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395728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358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Jurisdiction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794760"/>
            <a:ext cx="3108960" cy="86867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 point is matched to configured geographic boundaries.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395728"/>
            <a:ext cx="352958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560320"/>
            <a:ext cx="731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855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0358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Possible duplicates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794760"/>
            <a:ext cx="3108960" cy="86867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Same category, within 100 m and seven days; text similarity supports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93792"/>
            <a:ext cx="1078992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14C36"/>
                </a:solidFill>
                <a:latin typeface="Aptos"/>
              </a:defRPr>
            </a:pPr>
            <a:r>
              <a:t>Reports are linked after administrator review. Original reports and evidence are retained.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7044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F8068"/>
                </a:solidFill>
                <a:latin typeface="Aptos"/>
              </a:defRPr>
            </a:pPr>
            <a:r>
              <a:t>Public map positions are rounded. Official boundaries and ownership need verified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11 / LIVE APPLICATION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The working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Actual screenshot from the running local demo; all shown records are demonstration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043" y="2286000"/>
            <a:ext cx="3759593" cy="39136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2286000"/>
            <a:ext cx="3182112" cy="3913632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2514600"/>
            <a:ext cx="276148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 shared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3273552"/>
            <a:ext cx="2761488" cy="28620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Report counts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Open and closed issues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Registered trees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Neighbourhood map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Category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12 / VERIFIED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Evidence and history stay with the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complai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33" y="1938528"/>
            <a:ext cx="4003013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2148840"/>
            <a:ext cx="3182112" cy="3822191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377440"/>
            <a:ext cx="276148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Browser-tested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3136392"/>
            <a:ext cx="2761488" cy="27706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Citizen uploads a photo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Authority acknowledges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Work is completed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Resolution photo is added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Citizen confirms closure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AUTHORITY EMAIL /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Every new complaint creates an authority alert.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Complaint submission stays fast because the email is delivered by a separate worker.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51760"/>
            <a:ext cx="300837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1. Save complaint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10712"/>
            <a:ext cx="3008376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Report, evidence and an email queue entry are saved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300837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2. Preview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410712"/>
            <a:ext cx="3008376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The administrator sees the recipient, complaint details and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4231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651760"/>
            <a:ext cx="300837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3. Deliver or 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3410712"/>
            <a:ext cx="3008376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With outgoing mail configured, the worker sends and retries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7899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14C36"/>
                </a:solidFill>
                <a:latin typeface="Aptos"/>
              </a:defRPr>
            </a:pPr>
            <a:r>
              <a:t>Recipient for this demo: sandymuthukutti@gmail.com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78992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Verified 7 October 2026: Gmail accepted test NGC-063524AD. Outbox status: 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AUTHORITY EMAIL / LIVE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The authority email, ready to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Actual administrator outbox: recipient, message contents and truthful delivery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8" name="Picture 7" descr="email-out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760" y="2267712"/>
            <a:ext cx="4406198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2267712"/>
            <a:ext cx="2834640" cy="3931920"/>
          </a:xfrm>
          <a:prstGeom prst="roundRect">
            <a:avLst>
              <a:gd name="adj" fmla="val 12000"/>
            </a:avLst>
          </a:prstGeom>
          <a:solidFill>
            <a:srgbClr val="E6E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2496312"/>
            <a:ext cx="24140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What to demonstrate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3255264"/>
            <a:ext cx="2414016" cy="2880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Select the test report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Show the recipient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Read the email details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Explain the SENT state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Open its complaint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13 / GREEN NELLAI &amp;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From a planting day to a living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7" name="Picture 6" descr="tr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75" y="2103120"/>
            <a:ext cx="3714929" cy="3291840"/>
          </a:xfrm>
          <a:prstGeom prst="rect">
            <a:avLst/>
          </a:prstGeom>
        </p:spPr>
      </p:pic>
      <p:pic>
        <p:nvPicPr>
          <p:cNvPr id="8" name="Picture 7" descr="volunte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130" y="2103120"/>
            <a:ext cx="4514523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586984"/>
            <a:ext cx="50292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14C36"/>
                </a:solidFill>
                <a:latin typeface="Aptos"/>
              </a:defRPr>
            </a:pPr>
            <a:r>
              <a:t>Trees: species, planting date, coordinates and care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586984"/>
            <a:ext cx="50292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14C36"/>
                </a:solidFill>
                <a:latin typeface="Aptos"/>
              </a:defRPr>
            </a:pPr>
            <a:r>
              <a:t>Volunteers: profiles, activities and available places.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14 / OPEN MODULE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module can add a new community capability.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Picture 6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084831"/>
            <a:ext cx="5266944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2286000"/>
            <a:ext cx="4041648" cy="3611880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2551176"/>
            <a:ext cx="35661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C9DAAE"/>
                </a:solidFill>
                <a:latin typeface="Aptos"/>
              </a:defRPr>
            </a:pPr>
            <a:r>
              <a:t>MODULE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3182112"/>
            <a:ext cx="3566160" cy="2148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module.json</a:t>
            </a:r>
          </a:p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backend / API / models</a:t>
            </a:r>
          </a:p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frontend component</a:t>
            </a:r>
          </a:p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database migration</a:t>
            </a:r>
          </a:p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tests + README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15 / ENGINEERING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Security and privacy are part of the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27832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Argon2 passwords; JWT sessions; refresh rotation.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240280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46888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27832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Role and ownership checks on API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2240280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468880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Private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227832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Validated images; EXIF removal; authenticated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78808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4074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Public-data minimization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166360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No public contact details or private photographs.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4178808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44074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5166360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Workflow history, audit records and session revocation.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4178808"/>
            <a:ext cx="352958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407408"/>
            <a:ext cx="31089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User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166360"/>
            <a:ext cx="3108960" cy="685799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Password-confirmed citizen account deletion.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16 /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Verification with reproducible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Results below are functional checks from this implementation, not field-performance research.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429000" cy="1856231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87752"/>
            <a:ext cx="2971800" cy="8229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6200" b="1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2971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API / module tests passed</a:t>
            </a:r>
          </a:p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on PostgreSQL + PostGIS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377440"/>
            <a:ext cx="3429000" cy="1856231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587752"/>
            <a:ext cx="2971800" cy="8229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6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447288"/>
            <a:ext cx="2971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Browser scenarios passed</a:t>
            </a:r>
          </a:p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workflow + outbox +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377440"/>
            <a:ext cx="3429000" cy="1856231"/>
          </a:xfrm>
          <a:prstGeom prst="roundRect">
            <a:avLst>
              <a:gd name="adj" fmla="val 12000"/>
            </a:avLst>
          </a:prstGeom>
          <a:solidFill>
            <a:srgbClr val="214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15768"/>
            <a:ext cx="297180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4100" b="1">
                <a:solidFill>
                  <a:srgbClr val="FFFFF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47288"/>
            <a:ext cx="2971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TypeScript + web build</a:t>
            </a:r>
          </a:p>
          <a:p>
            <a:pPr algn="ctr">
              <a:spcAft>
                <a:spcPts val="700"/>
              </a:spcAft>
              <a:defRPr sz="1500" b="0">
                <a:solidFill>
                  <a:srgbClr val="D3E2BC"/>
                </a:solidFill>
                <a:latin typeface="Aptos"/>
              </a:defRPr>
            </a:pPr>
            <a:r>
              <a:t>Python lint + migrations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36592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645152"/>
            <a:ext cx="10634472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API checks cover access controls, email retries, pending alerts and private previews.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04104"/>
            <a:ext cx="77724" cy="77724"/>
          </a:xfrm>
          <a:prstGeom prst="rect">
            <a:avLst/>
          </a:prstGeom>
          <a:solidFill>
            <a:srgbClr val="D9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312664"/>
            <a:ext cx="10634472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F30"/>
                </a:solidFill>
                <a:latin typeface="Aptos"/>
              </a:defRPr>
            </a:pPr>
            <a:r>
              <a:t>Workflow tests cover reopening, duplicate linking and escalation idempotence.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17 / PORTABLE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One demo package. Three operating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F8068"/>
                </a:solidFill>
                <a:latin typeface="Aptos"/>
              </a:defRPr>
            </a:pPr>
            <a:r>
              <a:t>Extract the ZIP, install Python 3.12, then run the launcher for your PC.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1071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51760"/>
            <a:ext cx="299008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10712"/>
            <a:ext cx="2990088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START_WINDOWS.bat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Double-click to set up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and start the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41071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9008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410712"/>
            <a:ext cx="2990088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bash START_LINUX.sh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Run from the extracted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project 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23160"/>
            <a:ext cx="341071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651760"/>
            <a:ext cx="299008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14C36"/>
                </a:solidFill>
                <a:latin typeface="Aptos"/>
              </a:defRPr>
            </a:pPr>
            <a:r>
              <a:t>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410712"/>
            <a:ext cx="2990088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bash START_MAC.command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Run in Terminal from</a:t>
            </a:r>
          </a:p>
          <a:p>
            <a:pPr>
              <a:spcAft>
                <a:spcPts val="700"/>
              </a:spcAft>
              <a:defRPr sz="1500" b="0">
                <a:solidFill>
                  <a:srgbClr val="6F8068"/>
                </a:solidFill>
                <a:latin typeface="Aptos"/>
              </a:defRPr>
            </a:pPr>
            <a:r>
              <a:t>the extracted folder.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14C36"/>
                </a:solidFill>
                <a:latin typeface="Aptos"/>
              </a:defRPr>
            </a:pPr>
            <a:r>
              <a:t>http://localhost:8080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7899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F8068"/>
                </a:solidFill>
                <a:latin typeface="Aptos"/>
              </a:defRPr>
            </a:pPr>
            <a:r>
              <a:t>Built website + SQLite demo data. First setup needs internet; configure Gmail privately on each PC.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18 /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A clear boundary between demo and future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286000"/>
          <a:ext cx="1097280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928"/>
                <a:gridCol w="5833872"/>
              </a:tblGrid>
              <a:tr h="49116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Working in this demonstration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Further setup or future work</a:t>
                      </a:r>
                    </a:p>
                  </a:txBody>
                  <a:tcPr marL="146304" marR="146304" marT="109728">
                    <a:solidFill>
                      <a:srgbClr val="214C36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Human-selected complaint categories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Trained image and text classification models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Configured illustrative teams and boundaries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Verified official datasets and government APIs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Manual water observations and gauge records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IoT sensor feeds and validated flood predictions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Responsive React web interface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Completed Flutter app and store publishing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In-app updates and Gmail SMTP alerts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New-PC mail setup; public deployment; mobile push</a:t>
                      </a:r>
                    </a:p>
                  </a:txBody>
                  <a:tcPr marL="146304" marR="146304" marT="109728">
                    <a:solidFill>
                      <a:srgbClr val="FFFFFF"/>
                    </a:solidFill>
                  </a:tcPr>
                </a:tc>
              </a:tr>
              <a:tr h="49116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Functional local tests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F30"/>
                          </a:solidFill>
                          <a:latin typeface="Aptos"/>
                        </a:defRPr>
                      </a:pPr>
                      <a:r>
                        <a:t>Independent security, privacy and performance reviews</a:t>
                      </a:r>
                    </a:p>
                  </a:txBody>
                  <a:tcPr marL="146304" marR="146304" marT="109728">
                    <a:solidFill>
                      <a:srgbClr val="E6ED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F8068"/>
                </a:solidFill>
                <a:latin typeface="Aptos"/>
              </a:defRPr>
            </a:pPr>
            <a:r>
              <a:t>19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83F30"/>
                </a:solidFill>
                <a:latin typeface="Aptos"/>
              </a:defRPr>
            </a:pPr>
            <a:r>
              <a:t>Technology references &amp; reproducibility.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F8068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F806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10652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FastAPI security and API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59736"/>
            <a:ext cx="10652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https://fastapi.tiangolo.com/tutorial/security/oauth2-jwt/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52927"/>
            <a:ext cx="10652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PostGIS spatial distance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09544"/>
            <a:ext cx="10652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https://postgis.net/docs/ST_DWithin.html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02735"/>
            <a:ext cx="10652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React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959352"/>
            <a:ext cx="10652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https://react.dev/learn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352544"/>
            <a:ext cx="10652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Leaflet documentation / OpenStreetMap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709160"/>
            <a:ext cx="10652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https://leafletjs.com/reference.html   |   https://www.openstreetmap.org/copyright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102352"/>
            <a:ext cx="10652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14C36"/>
                </a:solidFill>
                <a:latin typeface="Aptos"/>
              </a:defRPr>
            </a:pPr>
            <a:r>
              <a:t>Source, verification, and demo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458968"/>
            <a:ext cx="10652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F8068"/>
                </a:solidFill>
                <a:latin typeface="Aptos"/>
              </a:defRPr>
            </a:pPr>
            <a:r>
              <a:t>README.md  ·  docs/verification.md  ·  docs/demo-guide.md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DD09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Our Nellai. Our responsibility.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50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98755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7BE8E"/>
                </a:solidFill>
                <a:latin typeface="Aptos"/>
              </a:defRPr>
            </a:pPr>
            <a:r>
              <a:t>SANTHIYA M  /  M.E. CSE, FINAL YEAR  /  SCAD COLLEGE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B4C99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98480" cy="1645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E2ECD1"/>
                </a:solidFill>
                <a:latin typeface="Aptos"/>
              </a:defRPr>
            </a:pPr>
            <a:r>
              <a:t>One report. A clear owner.</a:t>
            </a:r>
          </a:p>
          <a:p>
            <a:pPr>
              <a:spcAft>
                <a:spcPts val="700"/>
              </a:spcAft>
              <a:defRPr sz="4300" b="1">
                <a:solidFill>
                  <a:srgbClr val="E2ECD1"/>
                </a:solidFill>
                <a:latin typeface="Aptos"/>
              </a:defRPr>
            </a:pPr>
            <a:r>
              <a:t>A verifiable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70248"/>
            <a:ext cx="91440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BBD193"/>
                </a:solidFill>
                <a:latin typeface="Aptos"/>
              </a:defRPr>
            </a:pPr>
            <a:r>
              <a:t>Nellai Green &amp; Civic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65192"/>
            <a:ext cx="91440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B9CBA9"/>
                </a:solidFill>
                <a:latin typeface="Aptos"/>
              </a:defRPr>
            </a:pPr>
            <a:r>
              <a:t>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Nellai Green &amp; Civic — ME Project Demonstration</dc:title>
  <dc:subject>Modular civic and environmental management platform</dc:subject>
  <dc:creator>Santhiya 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