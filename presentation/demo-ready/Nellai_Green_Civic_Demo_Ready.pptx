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yourself and your college. This localhost prototype manages complaints and sends authority alerts. Gmail accepted test NGC-063524AD on 7 October 2026; inbox arrival is checked separately. The ZIP supports a Python 3.12 setup on Windows, Linux and macOS. AI classification is a future extension.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the problem as the motivation for this design. Do not claim measured failure rates or comparisons with government systems; no such study was conducted.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accountable workflow and extensibility. Environmental modules demonstrate how the same core can support additional use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records are actually persisted and roles are enforced through the API. Seeded records are synthetic and labelled. AI and sensors are not simulated as real predictions.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implementation choices, not claims of novel algorithms. Official technology references are listed at the end of this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diagram element is editable. Explain that one API owns transactions, while a separate worker checks deadlines. The modules share core services and the database through documented interfaces.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matrix is enforced at API level, not just by hiding browser buttons. Resolution verification is restricted to the original reporting citizen, even when the caller is an administrator.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Foreign keys preserve references. A dedicated complaint_emails table holds pending, sent or failed authority alerts with attempts and timestamps. Schema changes use Alembic migrations.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resolve endpoint records RESOLVED and VERIFICATION events in the same transaction. Rejection is a separate administrator decision with a recorded reason. This demo does not insert a fake AI-analysis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exact working-day calculation is covered by a test. The worker does not hard-code a government officer. Existing complaints keep a policy snapshot; reopening begins a new escalation cycle.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 layers include clusters and a heatmap. The duplicate score is text similarity, not a trained image model. No report is automatically deleted as a duplicate.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screenshot if the live environment is unavailable. The figures are synthetic demo record counts, not research findings or real district statistics.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record created by the Playwright browser test. Explain that the backend separately tests reopening, authorization failures and escalation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complaint creates an outbox entry even without a matched authority. Gmail accepted the labelled test email for sandymuthukutti@gmail.com and the restarted worker also delivered the other queued demo alert. SENT means SMTP acceptance, not proof of inbox arrival. Delivery needs internet and a running worker. Retries stop after five failures. The ZIP excludes the App Password, so a new PC requires private mail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 in as administrator and open Authority email outbox. The screenshot records the real original-PC SENT state after Gmail accepted the message. Ask the recipient to check Inbox/Spam; do not treat SMTP acceptance as inbox confirmation. On another PC create a new report, because the original database is not included in the ZIP. The preview uses the actual outgoing email formatter.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Survival rates use inspected trees only; newly planted trees are not counted as known survivors. No automatic species recommendation or land ownership claim is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enabling the example flood module. It adds a page and APIs for manual gauge readings. It is a reviewed installed source package, not executable code uploaded by anonymous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implemented controls, not an independent security certification. Account deletion has documented demo limits for retained operational history. A public rollout needs further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docs/verification.md if asked. Twenty-five backend/module tests passed on PostGIS. Three browser scenarios cover the full workflow, administration/modules/responsiveness and email outbox; the outbox scenario was repeated after real Gmail acceptance. Do not claim AI accuracy, scalability numbers or government adoption.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RUN_ON_ANOTHER_PC.md. Python 3.12 is required and packages download during first setup. No Node.js or Docker is required for the packaged demo. Fresh demo logins are generated in runtime/DEMO_CREDENTIALS.md. The ZIP excludes original passwords, database and uploaded files. SQLite supports the portable workflow; the original PC uses PostGIS. Gmail and external map tiles require internet. Windows and macOS launchers are supplied but native execution was not available on the Linux build host.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essential: explain honestly what is implemented. The user chose a simple local demo rather than a Play Store project. No fake external system or AI output has been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technology documentation references. A separate academic literature survey can be added by the student if required by the college; no papers or research results are fabricated in this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Invite questions. Be ready to show the live workflow, module manifest, API docs, tests, or the working-day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E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BDD09A"/>
                </a:solidFill>
                <a:latin typeface="Aptos"/>
              </a:defRPr>
            </a:pPr>
            <a:r>
              <a:t>ME PROJECT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Nellai Green &amp; Civic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507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A7BE8E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B4C99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7589520" cy="12801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E4EDD5"/>
                </a:solidFill>
                <a:latin typeface="Aptos"/>
              </a:defRPr>
            </a:pPr>
            <a:r>
              <a:t>Civic complaint management</a:t>
            </a:r>
          </a:p>
          <a:p>
            <a:pPr>
              <a:spcAft>
                <a:spcPts val="700"/>
              </a:spcAft>
              <a:defRPr sz="3000" b="1">
                <a:solidFill>
                  <a:srgbClr val="E4EDD5"/>
                </a:solidFill>
                <a:latin typeface="Aptos"/>
              </a:defRPr>
            </a:pPr>
            <a:r>
              <a:t>with authority email alerts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37560"/>
            <a:ext cx="731520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B7CB92"/>
                </a:solidFill>
                <a:latin typeface="Aptos"/>
              </a:defRPr>
            </a:pPr>
            <a:r>
              <a:t>Report. Notify. Respond. Verify.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508760"/>
            <a:ext cx="2560320" cy="2834640"/>
          </a:xfrm>
          <a:prstGeom prst="roundRect">
            <a:avLst>
              <a:gd name="adj" fmla="val 12000"/>
            </a:avLst>
          </a:prstGeom>
          <a:solidFill>
            <a:srgbClr val="2D57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8048" y="1783080"/>
            <a:ext cx="1463040" cy="12801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9300" b="1">
                <a:solidFill>
                  <a:srgbClr val="B7D28E"/>
                </a:solidFill>
                <a:latin typeface="Aptos"/>
              </a:defRPr>
            </a:pPr>
            <a:r>
              <a:t>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71432" y="3364992"/>
            <a:ext cx="2130552" cy="65836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E1ECD2"/>
                </a:solidFill>
                <a:latin typeface="Aptos"/>
              </a:defRPr>
            </a:pPr>
            <a:r>
              <a:t>OUR NELLAI</a:t>
            </a:r>
          </a:p>
          <a:p>
            <a:pPr algn="ctr">
              <a:spcAft>
                <a:spcPts val="700"/>
              </a:spcAft>
              <a:defRPr sz="1300" b="1">
                <a:solidFill>
                  <a:srgbClr val="E1ECD2"/>
                </a:solidFill>
                <a:latin typeface="Aptos"/>
              </a:defRPr>
            </a:pPr>
            <a:r>
              <a:t>OUR RESPONSIBILITY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1554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DCE8CF"/>
                </a:solidFill>
                <a:latin typeface="Aptos"/>
              </a:defRPr>
            </a:pPr>
            <a:r>
              <a:t>M.E. Computer Science &amp; Engineering</a:t>
            </a:r>
          </a:p>
          <a:p>
            <a:pPr>
              <a:spcAft>
                <a:spcPts val="700"/>
              </a:spcAft>
              <a:defRPr sz="1700" b="0">
                <a:solidFill>
                  <a:srgbClr val="DCE8CF"/>
                </a:solidFill>
                <a:latin typeface="Aptos"/>
              </a:defRPr>
            </a:pPr>
            <a:r>
              <a:t>Working localhost demonstration</a:t>
            </a:r>
          </a:p>
          <a:p>
            <a:pPr>
              <a:spcAft>
                <a:spcPts val="700"/>
              </a:spcAft>
              <a:defRPr sz="1700" b="0">
                <a:solidFill>
                  <a:srgbClr val="DCE8CF"/>
                </a:solidFill>
                <a:latin typeface="Aptos"/>
              </a:defRPr>
            </a:pPr>
            <a:r>
              <a:t>Tirunelveli / Nellai</a:t>
            </a:r>
          </a:p>
          <a:p>
            <a:pPr>
              <a:spcAft>
                <a:spcPts val="700"/>
              </a:spcAft>
              <a:defRPr sz="1700" b="0">
                <a:solidFill>
                  <a:srgbClr val="DCE8CF"/>
                </a:solidFill>
                <a:latin typeface="Aptos"/>
              </a:defRPr>
            </a:pPr>
            <a:r>
              <a:t>Web application, email outbox and community modules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F8068"/>
                </a:solidFill>
                <a:latin typeface="Aptos"/>
              </a:defRPr>
            </a:pPr>
            <a:r>
              <a:t>01 / PROBLEM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283F30"/>
                </a:solidFill>
                <a:latin typeface="Aptos"/>
              </a:defRPr>
            </a:pPr>
            <a:r>
              <a:t>A report should start a response.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19072"/>
            <a:ext cx="1097280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F8068"/>
                </a:solidFill>
                <a:latin typeface="Aptos"/>
              </a:defRPr>
            </a:pPr>
            <a:r>
              <a:t>Design problem: civic reports and environmental participation need one traceable workflow.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DDE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F8068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6F806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423160"/>
            <a:ext cx="3529584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587752"/>
            <a:ext cx="7315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D98551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063239"/>
            <a:ext cx="310896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Scattered reporting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822191"/>
            <a:ext cx="310896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A concern needs a location, evidence, category and a clear record.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2423160"/>
            <a:ext cx="3529584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2587752"/>
            <a:ext cx="7315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D98551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3063239"/>
            <a:ext cx="310896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Unclear responsibility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822191"/>
            <a:ext cx="310896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Routing should follow configured teams and jurisdictions.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4152" y="2423160"/>
            <a:ext cx="3529584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4" y="2587752"/>
            <a:ext cx="7315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D98551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3063239"/>
            <a:ext cx="310896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Missing closure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3822191"/>
            <a:ext cx="310896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A status change should be supported by evidence and citizen feedback.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698480" cy="7772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214C36"/>
                </a:solidFill>
                <a:latin typeface="Aptos"/>
              </a:defRPr>
            </a:pPr>
            <a:r>
              <a:t>Project response: a shared, auditable platform that connects reporting with action and community care.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F8068"/>
                </a:solidFill>
                <a:latin typeface="Aptos"/>
              </a:defRPr>
            </a:pPr>
            <a:r>
              <a:t>02 / AIM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283F30"/>
                </a:solidFill>
                <a:latin typeface="Aptos"/>
              </a:defRPr>
            </a:pPr>
            <a:r>
              <a:t>One core platform. Several community outcomes.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DDE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F8068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6F806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77724" cy="77724"/>
          </a:xfrm>
          <a:prstGeom prst="rect">
            <a:avLst/>
          </a:prstGeom>
          <a:solidFill>
            <a:srgbClr val="D985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148840"/>
            <a:ext cx="10634472" cy="63093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283F30"/>
                </a:solidFill>
                <a:latin typeface="Aptos"/>
              </a:defRPr>
            </a:pPr>
            <a:r>
              <a:t>Capture civic and environmental issues with photographs and location.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944368"/>
            <a:ext cx="77724" cy="77724"/>
          </a:xfrm>
          <a:prstGeom prst="rect">
            <a:avLst/>
          </a:prstGeom>
          <a:solidFill>
            <a:srgbClr val="D985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852928"/>
            <a:ext cx="10634472" cy="63093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283F30"/>
                </a:solidFill>
                <a:latin typeface="Aptos"/>
              </a:defRPr>
            </a:pPr>
            <a:r>
              <a:t>Assign responsibility using configurable rules and working-day deadlines.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648456"/>
            <a:ext cx="77724" cy="77724"/>
          </a:xfrm>
          <a:prstGeom prst="rect">
            <a:avLst/>
          </a:prstGeom>
          <a:solidFill>
            <a:srgbClr val="D985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557016"/>
            <a:ext cx="10634472" cy="63093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283F30"/>
                </a:solidFill>
                <a:latin typeface="Aptos"/>
              </a:defRPr>
            </a:pPr>
            <a:r>
              <a:t>Track evidence, escalation and citizen verification.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352544"/>
            <a:ext cx="77724" cy="77724"/>
          </a:xfrm>
          <a:prstGeom prst="rect">
            <a:avLst/>
          </a:prstGeom>
          <a:solidFill>
            <a:srgbClr val="D985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4261104"/>
            <a:ext cx="10634472" cy="63093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283F30"/>
                </a:solidFill>
                <a:latin typeface="Aptos"/>
              </a:defRPr>
            </a:pPr>
            <a:r>
              <a:t>Support volunteers, tree records and water observations.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056631"/>
            <a:ext cx="77724" cy="77724"/>
          </a:xfrm>
          <a:prstGeom prst="rect">
            <a:avLst/>
          </a:prstGeom>
          <a:solidFill>
            <a:srgbClr val="D985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965192"/>
            <a:ext cx="10634472" cy="63093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283F30"/>
                </a:solidFill>
                <a:latin typeface="Aptos"/>
              </a:defRPr>
            </a:pPr>
            <a:r>
              <a:t>Automatically queue authority email alerts for every new complaint.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F8068"/>
                </a:solidFill>
                <a:latin typeface="Aptos"/>
              </a:defRPr>
            </a:pPr>
            <a:r>
              <a:t>03 / IMPLEMENTED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283F30"/>
                </a:solidFill>
                <a:latin typeface="Aptos"/>
              </a:defRPr>
            </a:pPr>
            <a:r>
              <a:t>A focused, working localhost demonstration.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19072"/>
            <a:ext cx="1097280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F8068"/>
                </a:solidFill>
                <a:latin typeface="Aptos"/>
              </a:defRPr>
            </a:pPr>
            <a:r>
              <a:t>A complete complaint workflow with an administrator email outbox; no sensor hardware is required.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DDE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F8068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6F806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423160"/>
            <a:ext cx="3529584" cy="1691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651760"/>
            <a:ext cx="310896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Citizen portal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10712"/>
            <a:ext cx="310896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Register, report, track, verify and manage the account.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2423160"/>
            <a:ext cx="3529584" cy="1691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651760"/>
            <a:ext cx="310896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Authority workspace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410712"/>
            <a:ext cx="310896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Assigned issues, progress updates and resolution evidence.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4152" y="2423160"/>
            <a:ext cx="3529584" cy="1691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2651760"/>
            <a:ext cx="310896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Administrator 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3410712"/>
            <a:ext cx="310896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Teams, calendars, rules, modules and complaint review.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343400"/>
            <a:ext cx="3529584" cy="1691640"/>
          </a:xfrm>
          <a:prstGeom prst="roundRect">
            <a:avLst>
              <a:gd name="adj" fmla="val 12000"/>
            </a:avLst>
          </a:prstGeom>
          <a:solidFill>
            <a:srgbClr val="E6E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572000"/>
            <a:ext cx="310896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GIS &amp;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5330952"/>
            <a:ext cx="310896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Clusters, heatmap, trees and water-resource layers.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4343400"/>
            <a:ext cx="3529584" cy="1691640"/>
          </a:xfrm>
          <a:prstGeom prst="roundRect">
            <a:avLst>
              <a:gd name="adj" fmla="val 12000"/>
            </a:avLst>
          </a:prstGeom>
          <a:solidFill>
            <a:srgbClr val="E6E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4572000"/>
            <a:ext cx="310896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Community participation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4568" y="5330952"/>
            <a:ext cx="310896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Volunteer profiles, activities and capacity-aware joining.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74152" y="4343400"/>
            <a:ext cx="3529584" cy="1691640"/>
          </a:xfrm>
          <a:prstGeom prst="roundRect">
            <a:avLst>
              <a:gd name="adj" fmla="val 12000"/>
            </a:avLst>
          </a:prstGeom>
          <a:solidFill>
            <a:srgbClr val="E6E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84464" y="4572000"/>
            <a:ext cx="310896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Authority email outbox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4464" y="5330952"/>
            <a:ext cx="310896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Automatic alerts, message previews and delivery status.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F8068"/>
                </a:solidFill>
                <a:latin typeface="Aptos"/>
              </a:defRPr>
            </a:pPr>
            <a:r>
              <a:t>04 / TECHNOLOGY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283F30"/>
                </a:solidFill>
                <a:latin typeface="Aptos"/>
              </a:defRPr>
            </a:pPr>
            <a:r>
              <a:t>Open technologies, clear responsibilities.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DDE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F8068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6F8068"/>
                </a:solidFill>
                <a:latin typeface="Aptos"/>
              </a:defRPr>
            </a:pPr>
            <a: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286000"/>
          <a:ext cx="109728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246120"/>
                <a:gridCol w="5669280"/>
              </a:tblGrid>
              <a:tr h="5562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Layer</a:t>
                      </a:r>
                    </a:p>
                  </a:txBody>
                  <a:tcPr marL="146304" marR="146304" marT="109728">
                    <a:solidFill>
                      <a:srgbClr val="214C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Technology</a:t>
                      </a:r>
                    </a:p>
                  </a:txBody>
                  <a:tcPr marL="146304" marR="146304" marT="109728">
                    <a:solidFill>
                      <a:srgbClr val="214C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Responsibility</a:t>
                      </a:r>
                    </a:p>
                  </a:txBody>
                  <a:tcPr marL="146304" marR="146304" marT="109728">
                    <a:solidFill>
                      <a:srgbClr val="214C36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Web interface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React + TypeScript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Role-based views, forms and reusable components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API and services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Python + FastAPI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Validation, authentication and complaint workflow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Persistence / GIS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PostgreSQL + PostGIS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Records, distance lookup and geographic boundaries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Maps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Leaflet + OpenStreetMap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Interactive layers, clustering and heatmaps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Development / tests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VS Code, pytest, Playwright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Local run tasks, API and browser verification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5852160"/>
            <a:ext cx="1078992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F8068"/>
                </a:solidFill>
                <a:latin typeface="Aptos"/>
              </a:defRPr>
            </a:pPr>
            <a:r>
              <a:t>SQLite is available as an easier local adapter; PostGIS is used for the prepared demo.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F8068"/>
                </a:solidFill>
                <a:latin typeface="Aptos"/>
              </a:defRPr>
            </a:pPr>
            <a:r>
              <a:t>05 /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283F30"/>
                </a:solidFill>
                <a:latin typeface="Aptos"/>
              </a:defRPr>
            </a:pPr>
            <a:r>
              <a:t>A modular monolith with API boundaries.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DDE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F8068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6F8068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3383280" cy="502920"/>
          </a:xfrm>
          <a:prstGeom prst="roundRect">
            <a:avLst>
              <a:gd name="adj" fmla="val 12000"/>
            </a:avLst>
          </a:prstGeom>
          <a:solidFill>
            <a:srgbClr val="E6E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338328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214C36"/>
                </a:solidFill>
                <a:latin typeface="Aptos"/>
              </a:defRPr>
            </a:pPr>
            <a:r>
              <a:t>Citizen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383280" cy="502920"/>
          </a:xfrm>
          <a:prstGeom prst="roundRect">
            <a:avLst>
              <a:gd name="adj" fmla="val 12000"/>
            </a:avLst>
          </a:prstGeom>
          <a:solidFill>
            <a:srgbClr val="E6E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5112" y="1965960"/>
            <a:ext cx="338328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214C36"/>
                </a:solidFill>
                <a:latin typeface="Aptos"/>
              </a:defRPr>
            </a:pPr>
            <a:r>
              <a:t>Authority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72983" y="1874519"/>
            <a:ext cx="3383280" cy="502920"/>
          </a:xfrm>
          <a:prstGeom prst="roundRect">
            <a:avLst>
              <a:gd name="adj" fmla="val 12000"/>
            </a:avLst>
          </a:prstGeom>
          <a:solidFill>
            <a:srgbClr val="E6E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72983" y="1965960"/>
            <a:ext cx="338328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214C36"/>
                </a:solidFill>
                <a:latin typeface="Aptos"/>
              </a:defRPr>
            </a:pPr>
            <a:r>
              <a:t>Administrator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724912"/>
            <a:ext cx="10479024" cy="548640"/>
          </a:xfrm>
          <a:prstGeom prst="roundRect">
            <a:avLst>
              <a:gd name="adj" fmla="val 12000"/>
            </a:avLst>
          </a:prstGeom>
          <a:solidFill>
            <a:srgbClr val="214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62072"/>
            <a:ext cx="1014984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REACT WEB APPLICATION  →  REST API /api/v1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85032"/>
            <a:ext cx="6720840" cy="8778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840480"/>
            <a:ext cx="6309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14C36"/>
                </a:solidFill>
                <a:latin typeface="Aptos"/>
              </a:defRPr>
            </a:pPr>
            <a:r>
              <a:t>CORE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215384"/>
            <a:ext cx="6309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F8068"/>
                </a:solidFill>
                <a:latin typeface="Aptos"/>
              </a:defRPr>
            </a:pPr>
            <a:r>
              <a:t>Auth · RBAC · Workflow · GIS · Notifications · Audit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90688" y="3685032"/>
            <a:ext cx="3465576" cy="877824"/>
          </a:xfrm>
          <a:prstGeom prst="roundRect">
            <a:avLst>
              <a:gd name="adj" fmla="val 12000"/>
            </a:avLst>
          </a:prstGeom>
          <a:solidFill>
            <a:srgbClr val="E6E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73568" y="3831336"/>
            <a:ext cx="301752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214C36"/>
                </a:solidFill>
                <a:latin typeface="Aptos"/>
              </a:defRPr>
            </a:pPr>
            <a:r>
              <a:t>MODULE REGISTRY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8" y="4215384"/>
            <a:ext cx="303580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F8068"/>
                </a:solidFill>
                <a:latin typeface="Aptos"/>
              </a:defRPr>
            </a:pPr>
            <a:r>
              <a:t>Green · Volunteer · Water · Flood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148072"/>
            <a:ext cx="6720840" cy="777240"/>
          </a:xfrm>
          <a:prstGeom prst="roundRect">
            <a:avLst>
              <a:gd name="adj" fmla="val 12000"/>
            </a:avLst>
          </a:prstGeom>
          <a:solidFill>
            <a:srgbClr val="214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5367528"/>
            <a:ext cx="6364224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1800" b="1">
                <a:solidFill>
                  <a:srgbClr val="FFFFFF"/>
                </a:solidFill>
                <a:latin typeface="Aptos"/>
              </a:defRPr>
            </a:pPr>
            <a:r>
              <a:t>POSTGRESQL + POSTGIS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90688" y="5148072"/>
            <a:ext cx="3465576" cy="777240"/>
          </a:xfrm>
          <a:prstGeom prst="roundRect">
            <a:avLst>
              <a:gd name="adj" fmla="val 12000"/>
            </a:avLst>
          </a:prstGeom>
          <a:solidFill>
            <a:srgbClr val="F3E9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73568" y="5330952"/>
            <a:ext cx="3035808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1500" b="1">
                <a:solidFill>
                  <a:srgbClr val="214C36"/>
                </a:solidFill>
                <a:latin typeface="Aptos"/>
              </a:defRPr>
            </a:pPr>
            <a:r>
              <a:t>Email + escalation worker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468880" y="2386584"/>
            <a:ext cx="0" cy="274320"/>
          </a:xfrm>
          <a:prstGeom prst="line">
            <a:avLst/>
          </a:prstGeom>
          <a:ln w="22860">
            <a:solidFill>
              <a:srgbClr val="6F80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Down Arrow 25"/>
          <p:cNvSpPr/>
          <p:nvPr/>
        </p:nvSpPr>
        <p:spPr>
          <a:xfrm>
            <a:off x="2404872" y="2551176"/>
            <a:ext cx="128016" cy="146304"/>
          </a:xfrm>
          <a:prstGeom prst="downArrow">
            <a:avLst/>
          </a:prstGeom>
          <a:solidFill>
            <a:srgbClr val="6F8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016752" y="2386584"/>
            <a:ext cx="0" cy="274320"/>
          </a:xfrm>
          <a:prstGeom prst="line">
            <a:avLst/>
          </a:prstGeom>
          <a:ln w="22860">
            <a:solidFill>
              <a:srgbClr val="6F80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own Arrow 27"/>
          <p:cNvSpPr/>
          <p:nvPr/>
        </p:nvSpPr>
        <p:spPr>
          <a:xfrm>
            <a:off x="5952744" y="2551176"/>
            <a:ext cx="128016" cy="146304"/>
          </a:xfrm>
          <a:prstGeom prst="downArrow">
            <a:avLst/>
          </a:prstGeom>
          <a:solidFill>
            <a:srgbClr val="6F8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9564624" y="2386584"/>
            <a:ext cx="0" cy="274320"/>
          </a:xfrm>
          <a:prstGeom prst="line">
            <a:avLst/>
          </a:prstGeom>
          <a:ln w="22860">
            <a:solidFill>
              <a:srgbClr val="6F80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Down Arrow 29"/>
          <p:cNvSpPr/>
          <p:nvPr/>
        </p:nvSpPr>
        <p:spPr>
          <a:xfrm>
            <a:off x="9500616" y="2551176"/>
            <a:ext cx="128016" cy="146304"/>
          </a:xfrm>
          <a:prstGeom prst="downArrow">
            <a:avLst/>
          </a:prstGeom>
          <a:solidFill>
            <a:srgbClr val="6F8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4069080" y="3291840"/>
            <a:ext cx="0" cy="329184"/>
          </a:xfrm>
          <a:prstGeom prst="line">
            <a:avLst/>
          </a:prstGeom>
          <a:ln w="22860">
            <a:solidFill>
              <a:srgbClr val="6F80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4005072" y="3511296"/>
            <a:ext cx="128016" cy="146304"/>
          </a:xfrm>
          <a:prstGeom prst="downArrow">
            <a:avLst/>
          </a:prstGeom>
          <a:solidFill>
            <a:srgbClr val="6F8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9528048" y="3291840"/>
            <a:ext cx="0" cy="329184"/>
          </a:xfrm>
          <a:prstGeom prst="line">
            <a:avLst/>
          </a:prstGeom>
          <a:ln w="22860">
            <a:solidFill>
              <a:srgbClr val="6F80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Down Arrow 33"/>
          <p:cNvSpPr/>
          <p:nvPr/>
        </p:nvSpPr>
        <p:spPr>
          <a:xfrm>
            <a:off x="9464040" y="3511296"/>
            <a:ext cx="128016" cy="146304"/>
          </a:xfrm>
          <a:prstGeom prst="downArrow">
            <a:avLst/>
          </a:prstGeom>
          <a:solidFill>
            <a:srgbClr val="6F8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4069080" y="4590288"/>
            <a:ext cx="0" cy="493776"/>
          </a:xfrm>
          <a:prstGeom prst="line">
            <a:avLst/>
          </a:prstGeom>
          <a:ln w="22860">
            <a:solidFill>
              <a:srgbClr val="6F80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own Arrow 35"/>
          <p:cNvSpPr/>
          <p:nvPr/>
        </p:nvSpPr>
        <p:spPr>
          <a:xfrm>
            <a:off x="4005072" y="4974336"/>
            <a:ext cx="128016" cy="146304"/>
          </a:xfrm>
          <a:prstGeom prst="downArrow">
            <a:avLst/>
          </a:prstGeom>
          <a:solidFill>
            <a:srgbClr val="6F8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9528048" y="4608576"/>
            <a:ext cx="0" cy="512064"/>
          </a:xfrm>
          <a:prstGeom prst="line">
            <a:avLst/>
          </a:prstGeom>
          <a:ln w="22860">
            <a:solidFill>
              <a:srgbClr val="6F80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own Arrow 37"/>
          <p:cNvSpPr/>
          <p:nvPr/>
        </p:nvSpPr>
        <p:spPr>
          <a:xfrm rot="10800000">
            <a:off x="9464040" y="4498848"/>
            <a:ext cx="128016" cy="146304"/>
          </a:xfrm>
          <a:prstGeom prst="downArrow">
            <a:avLst/>
          </a:prstGeom>
          <a:solidFill>
            <a:srgbClr val="6F8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F8068"/>
                </a:solidFill>
                <a:latin typeface="Aptos"/>
              </a:defRPr>
            </a:pPr>
            <a:r>
              <a:t>06 / ROLES &amp; PERMISSIONS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283F30"/>
                </a:solidFill>
                <a:latin typeface="Aptos"/>
              </a:defRPr>
            </a:pPr>
            <a:r>
              <a:t>Access follows responsibility.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DDE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F8068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6F8068"/>
                </a:solidFill>
                <a:latin typeface="Aptos"/>
              </a:defRPr>
            </a:pPr>
            <a:r>
              <a:t>07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286000"/>
          <a:ext cx="109728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377440"/>
                <a:gridCol w="2377440"/>
                <a:gridCol w="2377440"/>
              </a:tblGrid>
              <a:tr h="483325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146304" marR="146304" marT="109728">
                    <a:solidFill>
                      <a:srgbClr val="214C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Citizen</a:t>
                      </a:r>
                    </a:p>
                  </a:txBody>
                  <a:tcPr marL="146304" marR="146304" marT="109728">
                    <a:solidFill>
                      <a:srgbClr val="214C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Authority</a:t>
                      </a:r>
                    </a:p>
                  </a:txBody>
                  <a:tcPr marL="146304" marR="146304" marT="109728">
                    <a:solidFill>
                      <a:srgbClr val="214C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Administrator</a:t>
                      </a:r>
                    </a:p>
                  </a:txBody>
                  <a:tcPr marL="146304" marR="146304" marT="109728">
                    <a:solidFill>
                      <a:srgbClr val="214C36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Submit a report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Yes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Yes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Yes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View private complaint details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Own reports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Assigned team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Managed reports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Assign team / correct category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No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No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Yes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Update and resolve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No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Assigned team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Yes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Verify resolution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Reporting citizen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Only own reports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Only own reports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Configure modules / calendars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No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No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Yes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5852160"/>
            <a:ext cx="107899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F8068"/>
                </a:solidFill>
                <a:latin typeface="Aptos"/>
              </a:defRPr>
            </a:pPr>
            <a:r>
              <a:t>Staff role grants require a super administrator. Public maps omit contact details and private photos.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F8068"/>
                </a:solidFill>
                <a:latin typeface="Aptos"/>
              </a:defRPr>
            </a:pPr>
            <a:r>
              <a:t>07 / 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283F30"/>
                </a:solidFill>
                <a:latin typeface="Aptos"/>
              </a:defRPr>
            </a:pPr>
            <a:r>
              <a:t>A traceable record behind every action.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DDE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F8068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6F8068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2651760" cy="7589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14015"/>
            <a:ext cx="2468879" cy="29260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214C36"/>
                </a:solidFill>
                <a:latin typeface="Aptos"/>
              </a:defRPr>
            </a:pPr>
            <a:r>
              <a:t>USERS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2194560"/>
            <a:ext cx="2834640" cy="758952"/>
          </a:xfrm>
          <a:prstGeom prst="roundRect">
            <a:avLst>
              <a:gd name="adj" fmla="val 12000"/>
            </a:avLst>
          </a:prstGeom>
          <a:solidFill>
            <a:srgbClr val="214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2414015"/>
            <a:ext cx="2651760" cy="29260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COMPLAINTS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2194560"/>
            <a:ext cx="2560320" cy="7589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19" y="2414015"/>
            <a:ext cx="2377439" cy="29260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214C36"/>
                </a:solidFill>
                <a:latin typeface="Aptos"/>
              </a:defRPr>
            </a:pPr>
            <a:r>
              <a:t>AUTHORITIES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657600"/>
            <a:ext cx="2651760" cy="7589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877056"/>
            <a:ext cx="2468879" cy="29260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214C36"/>
                </a:solidFill>
                <a:latin typeface="Aptos"/>
              </a:defRPr>
            </a:pPr>
            <a:r>
              <a:t>UPLOADS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3657600"/>
            <a:ext cx="2834640" cy="7589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877056"/>
            <a:ext cx="2651760" cy="29260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214C36"/>
                </a:solidFill>
                <a:latin typeface="Aptos"/>
              </a:defRPr>
            </a:pPr>
            <a:r>
              <a:t>EVENTS + ESCALATIONS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3657600"/>
            <a:ext cx="2560320" cy="7589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19" y="3877056"/>
            <a:ext cx="2377439" cy="29260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214C36"/>
                </a:solidFill>
                <a:latin typeface="Aptos"/>
              </a:defRPr>
            </a:pPr>
            <a:r>
              <a:t>RULES + CALENDARS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419856" y="2569464"/>
            <a:ext cx="1271016" cy="0"/>
          </a:xfrm>
          <a:prstGeom prst="line">
            <a:avLst/>
          </a:prstGeom>
          <a:ln w="22860">
            <a:solidFill>
              <a:srgbClr val="6F80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hevron 19"/>
          <p:cNvSpPr/>
          <p:nvPr/>
        </p:nvSpPr>
        <p:spPr>
          <a:xfrm>
            <a:off x="4581144" y="2496312"/>
            <a:ext cx="128016" cy="146304"/>
          </a:xfrm>
          <a:prstGeom prst="chevron">
            <a:avLst/>
          </a:prstGeom>
          <a:solidFill>
            <a:srgbClr val="6F8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7671816" y="2569464"/>
            <a:ext cx="1152144" cy="0"/>
          </a:xfrm>
          <a:prstGeom prst="line">
            <a:avLst/>
          </a:prstGeom>
          <a:ln w="22860">
            <a:solidFill>
              <a:srgbClr val="6F80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hevron 21"/>
          <p:cNvSpPr/>
          <p:nvPr/>
        </p:nvSpPr>
        <p:spPr>
          <a:xfrm rot="10800000">
            <a:off x="7562088" y="2496312"/>
            <a:ext cx="128016" cy="146304"/>
          </a:xfrm>
          <a:prstGeom prst="chevron">
            <a:avLst/>
          </a:prstGeom>
          <a:solidFill>
            <a:srgbClr val="6F8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057400" y="2962656"/>
            <a:ext cx="0" cy="612648"/>
          </a:xfrm>
          <a:prstGeom prst="line">
            <a:avLst/>
          </a:prstGeom>
          <a:ln w="22860">
            <a:solidFill>
              <a:srgbClr val="6F80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Down Arrow 23"/>
          <p:cNvSpPr/>
          <p:nvPr/>
        </p:nvSpPr>
        <p:spPr>
          <a:xfrm>
            <a:off x="1993392" y="3465576"/>
            <a:ext cx="128016" cy="146304"/>
          </a:xfrm>
          <a:prstGeom prst="downArrow">
            <a:avLst/>
          </a:prstGeom>
          <a:solidFill>
            <a:srgbClr val="6F8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172200" y="2962656"/>
            <a:ext cx="0" cy="612648"/>
          </a:xfrm>
          <a:prstGeom prst="line">
            <a:avLst/>
          </a:prstGeom>
          <a:ln w="22860">
            <a:solidFill>
              <a:srgbClr val="6F80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Down Arrow 25"/>
          <p:cNvSpPr/>
          <p:nvPr/>
        </p:nvSpPr>
        <p:spPr>
          <a:xfrm>
            <a:off x="6108192" y="3465576"/>
            <a:ext cx="128016" cy="146304"/>
          </a:xfrm>
          <a:prstGeom prst="downArrow">
            <a:avLst/>
          </a:prstGeom>
          <a:solidFill>
            <a:srgbClr val="6F8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10149840" y="2971800"/>
            <a:ext cx="0" cy="603504"/>
          </a:xfrm>
          <a:prstGeom prst="line">
            <a:avLst/>
          </a:prstGeom>
          <a:ln w="22860">
            <a:solidFill>
              <a:srgbClr val="6F80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own Arrow 27"/>
          <p:cNvSpPr/>
          <p:nvPr/>
        </p:nvSpPr>
        <p:spPr>
          <a:xfrm rot="10800000">
            <a:off x="10085832" y="2862072"/>
            <a:ext cx="128016" cy="146304"/>
          </a:xfrm>
          <a:prstGeom prst="downArrow">
            <a:avLst/>
          </a:prstGeom>
          <a:solidFill>
            <a:srgbClr val="6F8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1520" y="4937760"/>
            <a:ext cx="10698480" cy="859536"/>
          </a:xfrm>
          <a:prstGeom prst="roundRect">
            <a:avLst>
              <a:gd name="adj" fmla="val 12000"/>
            </a:avLst>
          </a:prstGeom>
          <a:solidFill>
            <a:srgbClr val="E6E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166360"/>
            <a:ext cx="1014984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1800" b="1">
                <a:solidFill>
                  <a:srgbClr val="214C36"/>
                </a:solidFill>
                <a:latin typeface="Aptos"/>
              </a:defRPr>
            </a:pPr>
            <a:r>
              <a:t>Email outbox + audit trail  |  Optional records: trees · volunteers · water · gauge readings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F8068"/>
                </a:solidFill>
                <a:latin typeface="Aptos"/>
              </a:defRPr>
            </a:pPr>
            <a:r>
              <a:t>08 / COMPLAINT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283F30"/>
                </a:solidFill>
                <a:latin typeface="Aptos"/>
              </a:defRPr>
            </a:pPr>
            <a:r>
              <a:t>A complaint ends with citizen verification.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DDE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F8068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6F8068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1463040" cy="13350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2779776"/>
            <a:ext cx="11887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D98551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383280"/>
            <a:ext cx="1243584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14C36"/>
                </a:solidFill>
                <a:latin typeface="Aptos"/>
              </a:defRPr>
            </a:pPr>
            <a:r>
              <a:t>Reported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121408" y="3255264"/>
            <a:ext cx="118872" cy="0"/>
          </a:xfrm>
          <a:prstGeom prst="line">
            <a:avLst/>
          </a:prstGeom>
          <a:ln w="22860">
            <a:solidFill>
              <a:srgbClr val="6F80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hevron 10"/>
          <p:cNvSpPr/>
          <p:nvPr/>
        </p:nvSpPr>
        <p:spPr>
          <a:xfrm>
            <a:off x="2130552" y="3182112"/>
            <a:ext cx="128016" cy="146304"/>
          </a:xfrm>
          <a:prstGeom prst="chevron">
            <a:avLst/>
          </a:prstGeom>
          <a:solidFill>
            <a:srgbClr val="6F8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76856" y="2606040"/>
            <a:ext cx="1463040" cy="13350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23160" y="2779776"/>
            <a:ext cx="11887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D98551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86584" y="3383280"/>
            <a:ext cx="1243584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14C36"/>
                </a:solidFill>
                <a:latin typeface="Aptos"/>
              </a:defRPr>
            </a:pPr>
            <a:r>
              <a:t>Assigned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58184" y="3255264"/>
            <a:ext cx="118872" cy="0"/>
          </a:xfrm>
          <a:prstGeom prst="line">
            <a:avLst/>
          </a:prstGeom>
          <a:ln w="22860">
            <a:solidFill>
              <a:srgbClr val="6F80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hevron 15"/>
          <p:cNvSpPr/>
          <p:nvPr/>
        </p:nvSpPr>
        <p:spPr>
          <a:xfrm>
            <a:off x="3767328" y="3182112"/>
            <a:ext cx="128016" cy="146304"/>
          </a:xfrm>
          <a:prstGeom prst="chevron">
            <a:avLst/>
          </a:prstGeom>
          <a:solidFill>
            <a:srgbClr val="6F8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13632" y="2606040"/>
            <a:ext cx="1463040" cy="13350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59936" y="2779776"/>
            <a:ext cx="11887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D98551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3383280"/>
            <a:ext cx="1243584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14C36"/>
                </a:solidFill>
                <a:latin typeface="Aptos"/>
              </a:defRPr>
            </a:pPr>
            <a:r>
              <a:t>Acknowledged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94960" y="3255264"/>
            <a:ext cx="118872" cy="0"/>
          </a:xfrm>
          <a:prstGeom prst="line">
            <a:avLst/>
          </a:prstGeom>
          <a:ln w="22860">
            <a:solidFill>
              <a:srgbClr val="6F80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hevron 20"/>
          <p:cNvSpPr/>
          <p:nvPr/>
        </p:nvSpPr>
        <p:spPr>
          <a:xfrm>
            <a:off x="5404104" y="3182112"/>
            <a:ext cx="128016" cy="146304"/>
          </a:xfrm>
          <a:prstGeom prst="chevron">
            <a:avLst/>
          </a:prstGeom>
          <a:solidFill>
            <a:srgbClr val="6F8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550408" y="2606040"/>
            <a:ext cx="1463040" cy="13350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96712" y="2779776"/>
            <a:ext cx="11887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D98551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0136" y="3383280"/>
            <a:ext cx="1243584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14C36"/>
                </a:solidFill>
                <a:latin typeface="Aptos"/>
              </a:defRPr>
            </a:pPr>
            <a:r>
              <a:t>In progress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031736" y="3255264"/>
            <a:ext cx="118872" cy="0"/>
          </a:xfrm>
          <a:prstGeom prst="line">
            <a:avLst/>
          </a:prstGeom>
          <a:ln w="22860">
            <a:solidFill>
              <a:srgbClr val="6F80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hevron 25"/>
          <p:cNvSpPr/>
          <p:nvPr/>
        </p:nvSpPr>
        <p:spPr>
          <a:xfrm>
            <a:off x="7040880" y="3182112"/>
            <a:ext cx="128016" cy="146304"/>
          </a:xfrm>
          <a:prstGeom prst="chevron">
            <a:avLst/>
          </a:prstGeom>
          <a:solidFill>
            <a:srgbClr val="6F8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187184" y="2606040"/>
            <a:ext cx="1463040" cy="13350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33488" y="2779776"/>
            <a:ext cx="11887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D98551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96912" y="3383280"/>
            <a:ext cx="1243584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14C36"/>
                </a:solidFill>
                <a:latin typeface="Aptos"/>
              </a:defRPr>
            </a:pPr>
            <a:r>
              <a:t>Resolved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668512" y="3255264"/>
            <a:ext cx="118872" cy="0"/>
          </a:xfrm>
          <a:prstGeom prst="line">
            <a:avLst/>
          </a:prstGeom>
          <a:ln w="22860">
            <a:solidFill>
              <a:srgbClr val="6F80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Chevron 30"/>
          <p:cNvSpPr/>
          <p:nvPr/>
        </p:nvSpPr>
        <p:spPr>
          <a:xfrm>
            <a:off x="8677656" y="3182112"/>
            <a:ext cx="128016" cy="146304"/>
          </a:xfrm>
          <a:prstGeom prst="chevron">
            <a:avLst/>
          </a:prstGeom>
          <a:solidFill>
            <a:srgbClr val="6F8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823959" y="2606040"/>
            <a:ext cx="1463040" cy="13350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70263" y="2779776"/>
            <a:ext cx="11887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D98551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33687" y="3383280"/>
            <a:ext cx="1243584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14C36"/>
                </a:solidFill>
                <a:latin typeface="Aptos"/>
              </a:defRPr>
            </a:pPr>
            <a:r>
              <a:t>Verification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305288" y="3255264"/>
            <a:ext cx="118871" cy="0"/>
          </a:xfrm>
          <a:prstGeom prst="line">
            <a:avLst/>
          </a:prstGeom>
          <a:ln w="22860">
            <a:solidFill>
              <a:srgbClr val="6F80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Chevron 35"/>
          <p:cNvSpPr/>
          <p:nvPr/>
        </p:nvSpPr>
        <p:spPr>
          <a:xfrm>
            <a:off x="10314432" y="3182112"/>
            <a:ext cx="128016" cy="146304"/>
          </a:xfrm>
          <a:prstGeom prst="chevron">
            <a:avLst/>
          </a:prstGeom>
          <a:solidFill>
            <a:srgbClr val="6F8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460736" y="2606040"/>
            <a:ext cx="1463040" cy="1335024"/>
          </a:xfrm>
          <a:prstGeom prst="roundRect">
            <a:avLst>
              <a:gd name="adj" fmla="val 12000"/>
            </a:avLst>
          </a:prstGeom>
          <a:solidFill>
            <a:srgbClr val="214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07040" y="2779776"/>
            <a:ext cx="11887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CEE0AA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70463" y="3383280"/>
            <a:ext cx="1243584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FFFFFF"/>
                </a:solidFill>
                <a:latin typeface="Aptos"/>
              </a:defRPr>
            </a:pPr>
            <a:r>
              <a:t>Closed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65960" y="4599432"/>
            <a:ext cx="8275320" cy="960120"/>
          </a:xfrm>
          <a:prstGeom prst="roundRect">
            <a:avLst>
              <a:gd name="adj" fmla="val 12000"/>
            </a:avLst>
          </a:prstGeom>
          <a:solidFill>
            <a:srgbClr val="E6E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40280" y="4782312"/>
            <a:ext cx="7726679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14C36"/>
                </a:solidFill>
                <a:latin typeface="Aptos"/>
              </a:defRPr>
            </a:pPr>
            <a:r>
              <a:t>Not resolved?  Citizen reopens → In progress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879592"/>
            <a:ext cx="107899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F8068"/>
                </a:solidFill>
                <a:latin typeface="Aptos"/>
              </a:defRPr>
            </a:pPr>
            <a:r>
              <a:t>Resolution requires a description, photograph, timestamp, location and responsible user.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F8068"/>
                </a:solidFill>
                <a:latin typeface="Aptos"/>
              </a:defRPr>
            </a:pPr>
            <a:r>
              <a:t>09 / AUTHORITY ASSIGNMENT &amp; ESCALATION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283F30"/>
                </a:solidFill>
                <a:latin typeface="Aptos"/>
              </a:defRPr>
            </a:pPr>
            <a:r>
              <a:t>Deadlines follow a configured working calendar.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19072"/>
            <a:ext cx="1097280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F8068"/>
                </a:solidFill>
                <a:latin typeface="Aptos"/>
              </a:defRPr>
            </a:pPr>
            <a:r>
              <a:t>Category + GPS + jurisdiction + responsibility rule → responsible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DDE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F8068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6F8068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77440"/>
            <a:ext cx="6537960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594360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400" b="1">
                <a:solidFill>
                  <a:srgbClr val="214C36"/>
                </a:solidFill>
                <a:latin typeface="Aptos"/>
              </a:defRPr>
            </a:pPr>
            <a:r>
              <a:t>Example: 3 working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46704"/>
            <a:ext cx="5852160" cy="17373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283F30"/>
                </a:solidFill>
                <a:latin typeface="Aptos"/>
              </a:defRPr>
            </a:pPr>
            <a:r>
              <a:t>Reported: Friday, 18 September 2026</a:t>
            </a:r>
          </a:p>
          <a:p>
            <a:pPr>
              <a:spcAft>
                <a:spcPts val="700"/>
              </a:spcAft>
              <a:defRPr sz="1800" b="0">
                <a:solidFill>
                  <a:srgbClr val="283F30"/>
                </a:solidFill>
                <a:latin typeface="Aptos"/>
              </a:defRPr>
            </a:pPr>
            <a:r>
              <a:t>Weekend: Saturday and Sunday</a:t>
            </a:r>
          </a:p>
          <a:p>
            <a:pPr>
              <a:spcAft>
                <a:spcPts val="700"/>
              </a:spcAft>
              <a:defRPr sz="1800" b="0">
                <a:solidFill>
                  <a:srgbClr val="283F30"/>
                </a:solidFill>
                <a:latin typeface="Aptos"/>
              </a:defRPr>
            </a:pPr>
            <a:r>
              <a:t>Configured example holiday: Monday, 21 September</a:t>
            </a:r>
          </a:p>
          <a:p>
            <a:pPr>
              <a:spcAft>
                <a:spcPts val="700"/>
              </a:spcAft>
              <a:defRPr sz="1800" b="0">
                <a:solidFill>
                  <a:srgbClr val="283F30"/>
                </a:solidFill>
                <a:latin typeface="Aptos"/>
              </a:defRPr>
            </a:pPr>
            <a:r>
              <a:t>Deadline: Thursday, 24 September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02936"/>
            <a:ext cx="5852160" cy="42976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F8068"/>
                </a:solidFill>
                <a:latin typeface="Aptos"/>
              </a:defRPr>
            </a:pPr>
            <a:r>
              <a:t>The holiday is a test-calendar input, not an assertion about official holidays.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70648" y="2377440"/>
            <a:ext cx="4078224" cy="3383280"/>
          </a:xfrm>
          <a:prstGeom prst="roundRect">
            <a:avLst>
              <a:gd name="adj" fmla="val 12000"/>
            </a:avLst>
          </a:prstGeom>
          <a:solidFill>
            <a:srgbClr val="E6E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2606040"/>
            <a:ext cx="365760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Escalation policy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364992"/>
            <a:ext cx="3657600" cy="2331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1. Reminder at the due check</a:t>
            </a:r>
          </a:p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2. Configured higher team</a:t>
            </a:r>
          </a:p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3. Additional configured levels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F8068"/>
                </a:solidFill>
                <a:latin typeface="Aptos"/>
              </a:defRPr>
            </a:pPr>
            <a:r>
              <a:t>10 / GIS &amp; DUPLICATE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283F30"/>
                </a:solidFill>
                <a:latin typeface="Aptos"/>
              </a:defRPr>
            </a:pPr>
            <a:r>
              <a:t>Location informs the response.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DDE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F8068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6F8068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395728"/>
            <a:ext cx="3529584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560320"/>
            <a:ext cx="7315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D98551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035808"/>
            <a:ext cx="310896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Nearby 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794760"/>
            <a:ext cx="3108960" cy="868679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PostGIS distance queries use metres and spatial indexes.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2395728"/>
            <a:ext cx="3529584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560320"/>
            <a:ext cx="7315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D98551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035808"/>
            <a:ext cx="310896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Jurisdiction matching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3794760"/>
            <a:ext cx="3108960" cy="868679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A point is matched to configured geographic boundaries.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4152" y="2395728"/>
            <a:ext cx="3529584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2560320"/>
            <a:ext cx="7315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D98551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3035808"/>
            <a:ext cx="310896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Possible duplicates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3794760"/>
            <a:ext cx="3108960" cy="868679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Same category, within 100 m and seven days; text similarity supports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93792"/>
            <a:ext cx="1078992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214C36"/>
                </a:solidFill>
                <a:latin typeface="Aptos"/>
              </a:defRPr>
            </a:pPr>
            <a:r>
              <a:t>Reports are linked after administrator review. Original reports and evidence are retained.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70448"/>
            <a:ext cx="1078992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F8068"/>
                </a:solidFill>
                <a:latin typeface="Aptos"/>
              </a:defRPr>
            </a:pPr>
            <a:r>
              <a:t>Public map positions are rounded. Official boundaries and ownership need verified records.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F8068"/>
                </a:solidFill>
                <a:latin typeface="Aptos"/>
              </a:defRPr>
            </a:pPr>
            <a:r>
              <a:t>11 / LIVE APPLICATION SCREENSHOT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283F30"/>
                </a:solidFill>
                <a:latin typeface="Aptos"/>
              </a:defRPr>
            </a:pPr>
            <a:r>
              <a:t>The working dashboard.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19072"/>
            <a:ext cx="1097280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F8068"/>
                </a:solidFill>
                <a:latin typeface="Aptos"/>
              </a:defRPr>
            </a:pPr>
            <a:r>
              <a:t>Actual screenshot from the running local demo; all shown records are demonstration data.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DDE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F8068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6F8068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8" name="Picture 7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043" y="2286000"/>
            <a:ext cx="3759593" cy="391363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2286000"/>
            <a:ext cx="3182112" cy="3913632"/>
          </a:xfrm>
          <a:prstGeom prst="roundRect">
            <a:avLst>
              <a:gd name="adj" fmla="val 12000"/>
            </a:avLst>
          </a:prstGeom>
          <a:solidFill>
            <a:srgbClr val="E6E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7072" y="2514600"/>
            <a:ext cx="2761488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A shared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7072" y="3273552"/>
            <a:ext cx="2761488" cy="286207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Report counts</a:t>
            </a:r>
          </a:p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Open and closed issues</a:t>
            </a:r>
          </a:p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Registered trees</a:t>
            </a:r>
          </a:p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Neighbourhood map</a:t>
            </a:r>
          </a:p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Category distribution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F8068"/>
                </a:solidFill>
                <a:latin typeface="Aptos"/>
              </a:defRPr>
            </a:pPr>
            <a:r>
              <a:t>12 / VERIFIED END-TO-END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283F30"/>
                </a:solidFill>
                <a:latin typeface="Aptos"/>
              </a:defRPr>
            </a:pPr>
            <a:r>
              <a:t>Evidence and history stay with the report.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DDE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F8068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6F8068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7" name="Picture 6" descr="complaint-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333" y="1938528"/>
            <a:ext cx="4003013" cy="42976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366760" y="2148840"/>
            <a:ext cx="3182112" cy="3822191"/>
          </a:xfrm>
          <a:prstGeom prst="roundRect">
            <a:avLst>
              <a:gd name="adj" fmla="val 12000"/>
            </a:avLst>
          </a:prstGeom>
          <a:solidFill>
            <a:srgbClr val="E6E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7072" y="2377440"/>
            <a:ext cx="2761488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Browser-tested sequence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7072" y="3136392"/>
            <a:ext cx="2761488" cy="27706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Citizen uploads a photo</a:t>
            </a:r>
          </a:p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Authority acknowledges</a:t>
            </a:r>
          </a:p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Work is completed</a:t>
            </a:r>
          </a:p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Resolution photo is added</a:t>
            </a:r>
          </a:p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Citizen confirms closure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F8068"/>
                </a:solidFill>
                <a:latin typeface="Aptos"/>
              </a:defRPr>
            </a:pPr>
            <a:r>
              <a:t>AUTHORITY EMAIL /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283F30"/>
                </a:solidFill>
                <a:latin typeface="Aptos"/>
              </a:defRPr>
            </a:pPr>
            <a:r>
              <a:t>Every new complaint creates an authority alert.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19072"/>
            <a:ext cx="1097280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F8068"/>
                </a:solidFill>
                <a:latin typeface="Aptos"/>
              </a:defRPr>
            </a:pPr>
            <a:r>
              <a:t>Complaint submission stays fast because the email is delivered by a separate worker.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DDE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F8068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6F8068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23160"/>
            <a:ext cx="3429000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651760"/>
            <a:ext cx="300837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1. Save complaint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410712"/>
            <a:ext cx="3008376" cy="12801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Report, evidence and an email queue entry are saved together.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423160"/>
            <a:ext cx="3429000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651760"/>
            <a:ext cx="300837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2. Preview alert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3410712"/>
            <a:ext cx="3008376" cy="12801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The administrator sees the recipient, complaint details and status.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2423160"/>
            <a:ext cx="3429000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2651760"/>
            <a:ext cx="300837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3. Deliver or retry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1" y="3410712"/>
            <a:ext cx="3008376" cy="12801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With outgoing mail configured, the worker sends and retries failures.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166360"/>
            <a:ext cx="10789920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214C36"/>
                </a:solidFill>
                <a:latin typeface="Aptos"/>
              </a:defRPr>
            </a:pPr>
            <a:r>
              <a:t>Recipient for this demo: sandymuthukutti@gmail.com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10789920" cy="34747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Verified 7 October 2026: Gmail accepted test NGC-063524AD. Outbox status: SENT.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F8068"/>
                </a:solidFill>
                <a:latin typeface="Aptos"/>
              </a:defRPr>
            </a:pPr>
            <a:r>
              <a:t>AUTHORITY EMAIL / LIVE SCREENSHOT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283F30"/>
                </a:solidFill>
                <a:latin typeface="Aptos"/>
              </a:defRPr>
            </a:pPr>
            <a:r>
              <a:t>The authority email, ready to review.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19072"/>
            <a:ext cx="1097280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F8068"/>
                </a:solidFill>
                <a:latin typeface="Aptos"/>
              </a:defRPr>
            </a:pPr>
            <a:r>
              <a:t>Actual administrator outbox: recipient, message contents and truthful delivery status.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DDE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F8068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6F8068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8" name="Picture 7" descr="email-out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1760" y="2267712"/>
            <a:ext cx="4406198" cy="39319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86800" y="2267712"/>
            <a:ext cx="2834640" cy="3931920"/>
          </a:xfrm>
          <a:prstGeom prst="roundRect">
            <a:avLst>
              <a:gd name="adj" fmla="val 12000"/>
            </a:avLst>
          </a:prstGeom>
          <a:solidFill>
            <a:srgbClr val="E6E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7112" y="2496312"/>
            <a:ext cx="2414016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What to demonstrate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7112" y="3255264"/>
            <a:ext cx="2414016" cy="28803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Select the test report</a:t>
            </a:r>
          </a:p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Show the recipient</a:t>
            </a:r>
          </a:p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Read the email details</a:t>
            </a:r>
          </a:p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Explain the SENT state</a:t>
            </a:r>
          </a:p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Open its complaint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F8068"/>
                </a:solidFill>
                <a:latin typeface="Aptos"/>
              </a:defRPr>
            </a:pPr>
            <a:r>
              <a:t>13 / GREEN NELLAI &amp; VOLUNTEERS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283F30"/>
                </a:solidFill>
                <a:latin typeface="Aptos"/>
              </a:defRPr>
            </a:pPr>
            <a:r>
              <a:t>From a planting day to a living record.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DDE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F8068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6F8068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7" name="Picture 6" descr="tr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375" y="2103120"/>
            <a:ext cx="3714929" cy="3291840"/>
          </a:xfrm>
          <a:prstGeom prst="rect">
            <a:avLst/>
          </a:prstGeom>
        </p:spPr>
      </p:pic>
      <p:pic>
        <p:nvPicPr>
          <p:cNvPr id="8" name="Picture 7" descr="volunte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4130" y="2103120"/>
            <a:ext cx="4514523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586984"/>
            <a:ext cx="502920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214C36"/>
                </a:solidFill>
                <a:latin typeface="Aptos"/>
              </a:defRPr>
            </a:pPr>
            <a:r>
              <a:t>Trees: species, planting date, coordinates and care status.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586984"/>
            <a:ext cx="502920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214C36"/>
                </a:solidFill>
                <a:latin typeface="Aptos"/>
              </a:defRPr>
            </a:pPr>
            <a:r>
              <a:t>Volunteers: profiles, activities and available places.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F8068"/>
                </a:solidFill>
                <a:latin typeface="Aptos"/>
              </a:defRPr>
            </a:pPr>
            <a:r>
              <a:t>14 / OPEN MODULE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283F30"/>
                </a:solidFill>
                <a:latin typeface="Aptos"/>
              </a:defRPr>
            </a:pPr>
            <a:r>
              <a:t>A module can add a new community capability.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DDE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F8068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6F8068"/>
                </a:solidFill>
                <a:latin typeface="Aptos"/>
              </a:defRPr>
            </a:pPr>
            <a:r>
              <a:t>17</a:t>
            </a:r>
          </a:p>
        </p:txBody>
      </p:sp>
      <p:pic>
        <p:nvPicPr>
          <p:cNvPr id="7" name="Picture 6" descr="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168" y="2084831"/>
            <a:ext cx="5266944" cy="38404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2286000"/>
            <a:ext cx="4041648" cy="3611880"/>
          </a:xfrm>
          <a:prstGeom prst="roundRect">
            <a:avLst>
              <a:gd name="adj" fmla="val 12000"/>
            </a:avLst>
          </a:prstGeom>
          <a:solidFill>
            <a:srgbClr val="214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44968" y="2551176"/>
            <a:ext cx="356616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C9DAAE"/>
                </a:solidFill>
                <a:latin typeface="Aptos"/>
              </a:defRPr>
            </a:pPr>
            <a:r>
              <a:t>MODULE PACKAGE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4968" y="3182112"/>
            <a:ext cx="3566160" cy="2148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FFFFFF"/>
                </a:solidFill>
                <a:latin typeface="Aptos"/>
              </a:defRPr>
            </a:pPr>
            <a:r>
              <a:t>module.json</a:t>
            </a:r>
          </a:p>
          <a:p>
            <a:pPr>
              <a:spcAft>
                <a:spcPts val="700"/>
              </a:spcAft>
              <a:defRPr sz="2100" b="0">
                <a:solidFill>
                  <a:srgbClr val="FFFFFF"/>
                </a:solidFill>
                <a:latin typeface="Aptos"/>
              </a:defRPr>
            </a:pPr>
            <a:r>
              <a:t>backend / API / models</a:t>
            </a:r>
          </a:p>
          <a:p>
            <a:pPr>
              <a:spcAft>
                <a:spcPts val="700"/>
              </a:spcAft>
              <a:defRPr sz="2100" b="0">
                <a:solidFill>
                  <a:srgbClr val="FFFFFF"/>
                </a:solidFill>
                <a:latin typeface="Aptos"/>
              </a:defRPr>
            </a:pPr>
            <a:r>
              <a:t>frontend component</a:t>
            </a:r>
          </a:p>
          <a:p>
            <a:pPr>
              <a:spcAft>
                <a:spcPts val="700"/>
              </a:spcAft>
              <a:defRPr sz="2100" b="0">
                <a:solidFill>
                  <a:srgbClr val="FFFFFF"/>
                </a:solidFill>
                <a:latin typeface="Aptos"/>
              </a:defRPr>
            </a:pPr>
            <a:r>
              <a:t>database migration</a:t>
            </a:r>
          </a:p>
          <a:p>
            <a:pPr>
              <a:spcAft>
                <a:spcPts val="700"/>
              </a:spcAft>
              <a:defRPr sz="2100" b="0">
                <a:solidFill>
                  <a:srgbClr val="FFFFFF"/>
                </a:solidFill>
                <a:latin typeface="Aptos"/>
              </a:defRPr>
            </a:pPr>
            <a:r>
              <a:t>tests + README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F8068"/>
                </a:solidFill>
                <a:latin typeface="Aptos"/>
              </a:defRPr>
            </a:pPr>
            <a:r>
              <a:t>15 / ENGINEERING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283F30"/>
                </a:solidFill>
                <a:latin typeface="Aptos"/>
              </a:defRPr>
            </a:pPr>
            <a:r>
              <a:t>Security and privacy are part of the workflow.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DDE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F8068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6F8068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240280"/>
            <a:ext cx="3529584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68880"/>
            <a:ext cx="310896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Authentication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227832"/>
            <a:ext cx="3108960" cy="685799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Argon2 passwords; JWT sessions; refresh rotation.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2240280"/>
            <a:ext cx="3529584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2468880"/>
            <a:ext cx="310896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Authorization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3227832"/>
            <a:ext cx="3108960" cy="685799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Role and ownership checks on API operations.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2" y="2240280"/>
            <a:ext cx="3529584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468880"/>
            <a:ext cx="310896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Private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3227832"/>
            <a:ext cx="3108960" cy="685799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Validated images; EXIF removal; authenticated access.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178808"/>
            <a:ext cx="3529584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407408"/>
            <a:ext cx="310896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Public-data minimization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5166360"/>
            <a:ext cx="3108960" cy="685799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No public contact details or private photographs.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4178808"/>
            <a:ext cx="3529584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4407408"/>
            <a:ext cx="310896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Traceability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5166360"/>
            <a:ext cx="3108960" cy="685799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Workflow history, audit records and session revocation.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4152" y="4178808"/>
            <a:ext cx="3529584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4407408"/>
            <a:ext cx="310896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User choice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5166360"/>
            <a:ext cx="3108960" cy="685799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Password-confirmed citizen account deletion.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F8068"/>
                </a:solidFill>
                <a:latin typeface="Aptos"/>
              </a:defRPr>
            </a:pPr>
            <a:r>
              <a:t>16 / VALIDATION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283F30"/>
                </a:solidFill>
                <a:latin typeface="Aptos"/>
              </a:defRPr>
            </a:pPr>
            <a:r>
              <a:t>Verification with reproducible tests.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19072"/>
            <a:ext cx="1097280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F8068"/>
                </a:solidFill>
                <a:latin typeface="Aptos"/>
              </a:defRPr>
            </a:pPr>
            <a:r>
              <a:t>Results below are functional checks from this implementation, not field-performance research.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DDE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F8068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6F8068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77440"/>
            <a:ext cx="3429000" cy="1856231"/>
          </a:xfrm>
          <a:prstGeom prst="roundRect">
            <a:avLst>
              <a:gd name="adj" fmla="val 12000"/>
            </a:avLst>
          </a:prstGeom>
          <a:solidFill>
            <a:srgbClr val="214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87752"/>
            <a:ext cx="2971800" cy="8229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6200" b="1">
                <a:solidFill>
                  <a:srgbClr val="FFFFFF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47288"/>
            <a:ext cx="297180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1500" b="0">
                <a:solidFill>
                  <a:srgbClr val="D3E2BC"/>
                </a:solidFill>
                <a:latin typeface="Aptos"/>
              </a:defRPr>
            </a:pPr>
            <a:r>
              <a:t>API / module tests passed</a:t>
            </a:r>
          </a:p>
          <a:p>
            <a:pPr algn="ctr">
              <a:spcAft>
                <a:spcPts val="700"/>
              </a:spcAft>
              <a:defRPr sz="1500" b="0">
                <a:solidFill>
                  <a:srgbClr val="D3E2BC"/>
                </a:solidFill>
                <a:latin typeface="Aptos"/>
              </a:defRPr>
            </a:pPr>
            <a:r>
              <a:t>on PostgreSQL + PostGIS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2377440"/>
            <a:ext cx="3429000" cy="1856231"/>
          </a:xfrm>
          <a:prstGeom prst="roundRect">
            <a:avLst>
              <a:gd name="adj" fmla="val 12000"/>
            </a:avLst>
          </a:prstGeom>
          <a:solidFill>
            <a:srgbClr val="214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2587752"/>
            <a:ext cx="2971800" cy="8229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62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3447288"/>
            <a:ext cx="297180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1500" b="0">
                <a:solidFill>
                  <a:srgbClr val="D3E2BC"/>
                </a:solidFill>
                <a:latin typeface="Aptos"/>
              </a:defRPr>
            </a:pPr>
            <a:r>
              <a:t>Browser scenarios passed</a:t>
            </a:r>
          </a:p>
          <a:p>
            <a:pPr algn="ctr">
              <a:spcAft>
                <a:spcPts val="700"/>
              </a:spcAft>
              <a:defRPr sz="1500" b="0">
                <a:solidFill>
                  <a:srgbClr val="D3E2BC"/>
                </a:solidFill>
                <a:latin typeface="Aptos"/>
              </a:defRPr>
            </a:pPr>
            <a:r>
              <a:t>workflow + outbox + layout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2377440"/>
            <a:ext cx="3429000" cy="1856231"/>
          </a:xfrm>
          <a:prstGeom prst="roundRect">
            <a:avLst>
              <a:gd name="adj" fmla="val 12000"/>
            </a:avLst>
          </a:prstGeom>
          <a:solidFill>
            <a:srgbClr val="214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715768"/>
            <a:ext cx="297180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4100" b="1">
                <a:solidFill>
                  <a:srgbClr val="FFFFFF"/>
                </a:solidFill>
                <a:latin typeface="Aptos"/>
              </a:defRPr>
            </a:pPr>
            <a:r>
              <a:t>PASS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447288"/>
            <a:ext cx="297180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1500" b="0">
                <a:solidFill>
                  <a:srgbClr val="D3E2BC"/>
                </a:solidFill>
                <a:latin typeface="Aptos"/>
              </a:defRPr>
            </a:pPr>
            <a:r>
              <a:t>TypeScript + web build</a:t>
            </a:r>
          </a:p>
          <a:p>
            <a:pPr algn="ctr">
              <a:spcAft>
                <a:spcPts val="700"/>
              </a:spcAft>
              <a:defRPr sz="1500" b="0">
                <a:solidFill>
                  <a:srgbClr val="D3E2BC"/>
                </a:solidFill>
                <a:latin typeface="Aptos"/>
              </a:defRPr>
            </a:pPr>
            <a:r>
              <a:t>Python lint + migrations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736592"/>
            <a:ext cx="77724" cy="77724"/>
          </a:xfrm>
          <a:prstGeom prst="rect">
            <a:avLst/>
          </a:prstGeom>
          <a:solidFill>
            <a:srgbClr val="D985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645152"/>
            <a:ext cx="10634472" cy="5943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283F30"/>
                </a:solidFill>
                <a:latin typeface="Aptos"/>
              </a:defRPr>
            </a:pPr>
            <a:r>
              <a:t>API checks cover access controls, email retries, pending alerts and private previews.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404104"/>
            <a:ext cx="77724" cy="77724"/>
          </a:xfrm>
          <a:prstGeom prst="rect">
            <a:avLst/>
          </a:prstGeom>
          <a:solidFill>
            <a:srgbClr val="D985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5312664"/>
            <a:ext cx="10634472" cy="5943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283F30"/>
                </a:solidFill>
                <a:latin typeface="Aptos"/>
              </a:defRPr>
            </a:pPr>
            <a:r>
              <a:t>Workflow tests cover reopening, duplicate linking and escalation idempotence.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F8068"/>
                </a:solidFill>
                <a:latin typeface="Aptos"/>
              </a:defRPr>
            </a:pPr>
            <a:r>
              <a:t>17 / PORTABLE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283F30"/>
                </a:solidFill>
                <a:latin typeface="Aptos"/>
              </a:defRPr>
            </a:pPr>
            <a:r>
              <a:t>One demo package. Three operating systems.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19072"/>
            <a:ext cx="1097280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F8068"/>
                </a:solidFill>
                <a:latin typeface="Aptos"/>
              </a:defRPr>
            </a:pPr>
            <a:r>
              <a:t>Extract the ZIP, install Python 3.12, then run the launcher for your PC.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DDE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F8068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6F8068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23160"/>
            <a:ext cx="341071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651760"/>
            <a:ext cx="2990088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Windows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410712"/>
            <a:ext cx="2990088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START_WINDOWS.bat</a:t>
            </a:r>
          </a:p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Double-click to set up</a:t>
            </a:r>
          </a:p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and start the demo.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423160"/>
            <a:ext cx="341071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651760"/>
            <a:ext cx="2990088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Linux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3410712"/>
            <a:ext cx="2990088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bash START_LINUX.sh</a:t>
            </a:r>
          </a:p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Run from the extracted</a:t>
            </a:r>
          </a:p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project folder.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423160"/>
            <a:ext cx="341071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2" y="2651760"/>
            <a:ext cx="2990088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14C36"/>
                </a:solidFill>
                <a:latin typeface="Aptos"/>
              </a:defRPr>
            </a:pPr>
            <a:r>
              <a:t>macOS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3410712"/>
            <a:ext cx="2990088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bash START_MAC.command</a:t>
            </a:r>
          </a:p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Run in Terminal from</a:t>
            </a:r>
          </a:p>
          <a:p>
            <a:pPr>
              <a:spcAft>
                <a:spcPts val="700"/>
              </a:spcAft>
              <a:defRPr sz="1500" b="0">
                <a:solidFill>
                  <a:srgbClr val="6F8068"/>
                </a:solidFill>
                <a:latin typeface="Aptos"/>
              </a:defRPr>
            </a:pPr>
            <a:r>
              <a:t>the extracted folder.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83480"/>
            <a:ext cx="1051560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ctr">
              <a:spcAft>
                <a:spcPts val="700"/>
              </a:spcAft>
              <a:defRPr sz="2600" b="1">
                <a:solidFill>
                  <a:srgbClr val="214C36"/>
                </a:solidFill>
                <a:latin typeface="Aptos"/>
              </a:defRPr>
            </a:pPr>
            <a:r>
              <a:t>http://localhost:8080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715000"/>
            <a:ext cx="1078992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6F8068"/>
                </a:solidFill>
                <a:latin typeface="Aptos"/>
              </a:defRPr>
            </a:pPr>
            <a:r>
              <a:t>Built website + SQLite demo data. First setup needs internet; configure Gmail privately on each PC.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F8068"/>
                </a:solidFill>
                <a:latin typeface="Aptos"/>
              </a:defRPr>
            </a:pPr>
            <a:r>
              <a:t>18 / LIMITATIONS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283F30"/>
                </a:solidFill>
                <a:latin typeface="Aptos"/>
              </a:defRPr>
            </a:pPr>
            <a:r>
              <a:t>A clear boundary between demo and future 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DDE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F8068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6F8068"/>
                </a:solidFill>
                <a:latin typeface="Aptos"/>
              </a:defRPr>
            </a:pPr>
            <a: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286000"/>
          <a:ext cx="10972800" cy="3438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38928"/>
                <a:gridCol w="5833872"/>
              </a:tblGrid>
              <a:tr h="491163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Working in this demonstration</a:t>
                      </a:r>
                    </a:p>
                  </a:txBody>
                  <a:tcPr marL="146304" marR="146304" marT="109728">
                    <a:solidFill>
                      <a:srgbClr val="214C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Further setup or future work</a:t>
                      </a:r>
                    </a:p>
                  </a:txBody>
                  <a:tcPr marL="146304" marR="146304" marT="109728">
                    <a:solidFill>
                      <a:srgbClr val="214C36"/>
                    </a:solidFill>
                  </a:tcPr>
                </a:tc>
              </a:tr>
              <a:tr h="491163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Human-selected complaint categories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Trained image and text classification models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</a:tr>
              <a:tr h="491163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Configured illustrative teams and boundaries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Verified official datasets and government APIs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</a:tr>
              <a:tr h="491163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Manual water observations and gauge records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IoT sensor feeds and validated flood predictions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</a:tr>
              <a:tr h="491163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Responsive React web interface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Completed Flutter app and store publishing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</a:tr>
              <a:tr h="491163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In-app updates and Gmail SMTP alerts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New-PC mail setup; public deployment; mobile push</a:t>
                      </a:r>
                    </a:p>
                  </a:txBody>
                  <a:tcPr marL="146304" marR="146304" marT="109728">
                    <a:solidFill>
                      <a:srgbClr val="FFFFFF"/>
                    </a:solidFill>
                  </a:tcPr>
                </a:tc>
              </a:tr>
              <a:tr h="49116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Functional local tests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F30"/>
                          </a:solidFill>
                          <a:latin typeface="Aptos"/>
                        </a:defRPr>
                      </a:pPr>
                      <a:r>
                        <a:t>Independent security, privacy and performance reviews</a:t>
                      </a:r>
                    </a:p>
                  </a:txBody>
                  <a:tcPr marL="146304" marR="146304" marT="109728">
                    <a:solidFill>
                      <a:srgbClr val="E6EDD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F8068"/>
                </a:solidFill>
                <a:latin typeface="Aptos"/>
              </a:defRPr>
            </a:pPr>
            <a:r>
              <a:t>19 /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283F30"/>
                </a:solidFill>
                <a:latin typeface="Aptos"/>
              </a:defRPr>
            </a:pPr>
            <a:r>
              <a:t>Technology references &amp; reproducibility.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DDE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F8068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6F8068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103120"/>
            <a:ext cx="1065276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14C36"/>
                </a:solidFill>
                <a:latin typeface="Aptos"/>
              </a:defRPr>
            </a:pPr>
            <a:r>
              <a:t>FastAPI security and API documentation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59736"/>
            <a:ext cx="1065276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F8068"/>
                </a:solidFill>
                <a:latin typeface="Aptos"/>
              </a:defRPr>
            </a:pPr>
            <a:r>
              <a:t>https://fastapi.tiangolo.com/tutorial/security/oauth2-jwt/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852927"/>
            <a:ext cx="1065276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14C36"/>
                </a:solidFill>
                <a:latin typeface="Aptos"/>
              </a:defRPr>
            </a:pPr>
            <a:r>
              <a:t>PostGIS spatial distance queries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209544"/>
            <a:ext cx="1065276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F8068"/>
                </a:solidFill>
                <a:latin typeface="Aptos"/>
              </a:defRPr>
            </a:pPr>
            <a:r>
              <a:t>https://postgis.net/docs/ST_DWithin.html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602735"/>
            <a:ext cx="1065276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14C36"/>
                </a:solidFill>
                <a:latin typeface="Aptos"/>
              </a:defRPr>
            </a:pPr>
            <a:r>
              <a:t>React documentation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3959352"/>
            <a:ext cx="1065276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F8068"/>
                </a:solidFill>
                <a:latin typeface="Aptos"/>
              </a:defRPr>
            </a:pPr>
            <a:r>
              <a:t>https://react.dev/learn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4352544"/>
            <a:ext cx="1065276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14C36"/>
                </a:solidFill>
                <a:latin typeface="Aptos"/>
              </a:defRPr>
            </a:pPr>
            <a:r>
              <a:t>Leaflet documentation / OpenStreetMap attribution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709160"/>
            <a:ext cx="1065276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F8068"/>
                </a:solidFill>
                <a:latin typeface="Aptos"/>
              </a:defRPr>
            </a:pPr>
            <a:r>
              <a:t>https://leafletjs.com/reference.html   |   https://www.openstreetmap.org/copyright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5102352"/>
            <a:ext cx="1065276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14C36"/>
                </a:solidFill>
                <a:latin typeface="Aptos"/>
              </a:defRPr>
            </a:pPr>
            <a:r>
              <a:t>Source, verification, and demo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5458968"/>
            <a:ext cx="1065276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F8068"/>
                </a:solidFill>
                <a:latin typeface="Aptos"/>
              </a:defRPr>
            </a:pPr>
            <a:r>
              <a:t>README.md  ·  docs/verification.md  ·  docs/demo-guide.md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E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BDD09A"/>
                </a:solidFill>
                <a:latin typeface="Aptos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0972800" cy="8686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Our Nellai. Our responsibility.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507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56248"/>
            <a:ext cx="9875520" cy="1554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A7BE8E"/>
                </a:solidFill>
                <a:latin typeface="Aptos"/>
              </a:defRPr>
            </a:pPr>
            <a:r>
              <a:t>ME PROJECT  /  LOCALHOST DEMONSTRATION  /  EDITABLE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59436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spcAft>
                <a:spcPts val="700"/>
              </a:spcAft>
              <a:defRPr sz="1100" b="0">
                <a:solidFill>
                  <a:srgbClr val="B4C99C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10698480" cy="1645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4300" b="1">
                <a:solidFill>
                  <a:srgbClr val="E2ECD1"/>
                </a:solidFill>
                <a:latin typeface="Aptos"/>
              </a:defRPr>
            </a:pPr>
            <a:r>
              <a:t>One report. A clear owner.</a:t>
            </a:r>
          </a:p>
          <a:p>
            <a:pPr>
              <a:spcAft>
                <a:spcPts val="700"/>
              </a:spcAft>
              <a:defRPr sz="4300" b="1">
                <a:solidFill>
                  <a:srgbClr val="E2ECD1"/>
                </a:solidFill>
                <a:latin typeface="Aptos"/>
              </a:defRPr>
            </a:pPr>
            <a:r>
              <a:t>A verifiable resolution.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70248"/>
            <a:ext cx="914400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BBD193"/>
                </a:solidFill>
                <a:latin typeface="Aptos"/>
              </a:defRPr>
            </a:pPr>
            <a:r>
              <a:t>Nellai Green &amp; Civic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65192"/>
            <a:ext cx="914400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B9CBA9"/>
                </a:solidFill>
                <a:latin typeface="Aptos"/>
              </a:defRPr>
            </a:pPr>
            <a:r>
              <a:t>Questions &amp; live demonstration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Nellai Green &amp; Civic — ME Project Demonstration</dc:title>
  <dc:subject>Modular civic and environmental management platform</dc:subject>
  <dc:creator>Nellai Green &amp; Civic Project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